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1706242-C3AE-B322-4BF1-6C3C2F391193}">
          <p14:sldIdLst>
            <p14:sldId id="256"/>
          </p14:sldIdLst>
        </p14:section>
        <p14:section name="Problems" id="{F8E40D5A-F103-B536-357B-A4341E5A43BC}">
          <p14:sldIdLst>
            <p14:sldId id="257"/>
          </p14:sldIdLst>
        </p14:section>
        <p14:section name="Product Vision" id="{AB748770-1976-05CD-72DE-549F5D2674CF}">
          <p14:sldIdLst>
            <p14:sldId id="258"/>
          </p14:sldIdLst>
        </p14:section>
        <p14:section name="Personas" id="{2BA40FD1-C9E9-3245-28E6-7C31D3FE31C6}">
          <p14:sldIdLst>
            <p14:sldId id="259"/>
          </p14:sldIdLst>
        </p14:section>
        <p14:section name="What Is Essential" id="{EB70D857-0DC3-31A3-BF4A-696499DB9AF8}">
          <p14:sldIdLst>
            <p14:sldId id="260"/>
          </p14:sldIdLst>
        </p14:section>
        <p14:section name="User Journeys" id="{07F2670F-5B74-0A93-4C88-5CC9DB529C13}">
          <p14:sldIdLst>
            <p14:sldId id="261"/>
          </p14:sldIdLst>
        </p14:section>
        <p14:section name="Workflows" id="{9636EE9E-A3EB-2555-0BB0-928A25332F17}">
          <p14:sldIdLst/>
        </p14:section>
        <p14:section name="Sprint 1 Status" id="{12BEE0CF-3B07-3E88-A2AD-0F746EE7C02B}">
          <p14:sldIdLst>
            <p14:sldId id="263"/>
            <p14:sldId id="264"/>
          </p14:sldIdLst>
        </p14:section>
        <p14:section name="Closing" id="{98744B33-D05D-B7D1-E9DC-B6CA2C8A5481}">
          <p14:sldIdLst>
            <p14:sldId id="265"/>
          </p14:sldIdLst>
        </p14:section>
        <p14:section name="Appendix: Journey Diagrams" id="{B836D879-89CE-B0F0-13D5-66406A99F4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120" y="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524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 is a shift management platform for a Portuguese fire station. This presentation covers the Sprint 1 idea presentation and the current status of the Sprint A deliverables.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 is a shift management app built for the station, whose need was raised by the cadets, volunteers and former members themselves. It also gives dispatchers an on-shift board alongside the existing dispatch app, and it is designed to be used from day one without training, since senior staff have little experience with technology.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every fire station always knows who is on shift. Professional firefighters can easily report extra hours and extensions after emergencies, and volunteers and cadets can manage their availability and negotiate shift swaps, so no one gives up on volunteering because of their schedule.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persona stands for one of the target user groups: supervisors, station command, professional firefighters, volunteers and cadets, and volunteers who quit. The table summarises who they are, their main current problems and what they want solved. The full persona templates 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its features, these points are essential for Escala to be adopted by the station.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UJ1 covers planning the weekly schedule. UJ2 covers registering a shift extension or off-hours shift. UJ3 covers asking for a shift swap. UJ4 covers seeing who is on shift to dispatch. UJ5 covers planning a training session.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GitHub repository created; Jira project with epics, stories and decisions; Scrum with a pre-game phase, sprints and a post-game phase; Definition of Ready and Definition of Done documented in Confluence; Product Owner, Scrum Master and Developers assigned. Phase 2: domain research and related works done; questions prepared for the station, with more personas still to be created; interview findings used for the personas, with notes still to be documented; epics in Jira being aligned with the current scope. Phase 3: product vision, personas and user journeys done, domain model drafted for team review, epics being updated; user stories in Jira being aligned; MoSCoW prioritisation and Sprint B backlog not started.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 and DoD are agreed and documented in Confluence. Team roles are assigned and the Scrum process with working agreements is defined. The high-level system architecture is done and in the docs folder of the repository. The domain model draft is in the docs folder but still needs a thorough team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scala Tit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223760" cy="6858000"/>
          </a:xfrm>
          <a:prstGeom prst="rect">
            <a:avLst/>
          </a:prstGeom>
          <a:solidFill>
            <a:schemeClr val="tx1"/>
          </a:solidFill>
          <a:ln/>
        </p:spPr>
        <p:txBody>
          <a:bodyPr/>
          <a:lstStyle/>
          <a:p>
            <a:endParaRPr lang="pt-PT"/>
          </a:p>
        </p:txBody>
      </p:sp>
      <p:sp>
        <p:nvSpPr>
          <p:cNvPr id="3" name="Text 1"/>
          <p:cNvSpPr>
            <a:spLocks noGrp="1"/>
          </p:cNvSpPr>
          <p:nvPr>
            <p:ph type="title" idx="101" hasCustomPrompt="1"/>
          </p:nvPr>
        </p:nvSpPr>
        <p:spPr>
          <a:xfrm>
            <a:off x="731520" y="1828800"/>
            <a:ext cx="6035040" cy="1188720"/>
          </a:xfrm>
          <a:prstGeom prst="rect">
            <a:avLst/>
          </a:prstGeom>
          <a:noFill/>
          <a:ln/>
        </p:spPr>
        <p:txBody>
          <a:bodyPr wrap="square" rtlCol="0"/>
          <a:lstStyle>
            <a:lvl1pPr marL="0" indent="0" algn="l">
              <a:buNone/>
              <a:defRPr lang="en-US" sz="6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6000" dirty="0"/>
          </a:p>
        </p:txBody>
      </p:sp>
      <p:sp>
        <p:nvSpPr>
          <p:cNvPr id="4" name="Text 1"/>
          <p:cNvSpPr>
            <a:spLocks noGrp="1"/>
          </p:cNvSpPr>
          <p:nvPr>
            <p:ph type="body" idx="102" hasCustomPrompt="1"/>
          </p:nvPr>
        </p:nvSpPr>
        <p:spPr>
          <a:xfrm>
            <a:off x="731520" y="3154680"/>
            <a:ext cx="6035040" cy="54864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
        <p:nvSpPr>
          <p:cNvPr id="5" name="Text 1"/>
          <p:cNvSpPr>
            <a:spLocks noGrp="1"/>
          </p:cNvSpPr>
          <p:nvPr>
            <p:ph type="body" idx="103" hasCustomPrompt="1"/>
          </p:nvPr>
        </p:nvSpPr>
        <p:spPr>
          <a:xfrm>
            <a:off x="731520" y="4160520"/>
            <a:ext cx="6035040" cy="109728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Section">
    <p:bg>
      <p:bgPr>
        <a:solidFill>
          <a:srgbClr val="1E2533"/>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37360"/>
            <a:ext cx="5486400" cy="1005840"/>
          </a:xfrm>
          <a:prstGeom prst="rect">
            <a:avLst/>
          </a:prstGeom>
          <a:noFill/>
          <a:ln/>
        </p:spPr>
        <p:txBody>
          <a:bodyPr wrap="square" rtlCol="0"/>
          <a:lstStyle>
            <a:lvl1pPr marL="0" indent="0">
              <a:buNone/>
              <a:defRPr lang="en-US" sz="6600" b="1" dirty="0">
                <a:solidFill>
                  <a:schemeClr val="accent6"/>
                </a:solidFill>
                <a:latin typeface="Cambria" pitchFamily="34" charset="0"/>
                <a:ea typeface="Cambria" pitchFamily="34" charset="-122"/>
                <a:cs typeface="Cambria" pitchFamily="34" charset="-120"/>
              </a:defRPr>
            </a:lvl1pPr>
          </a:lstStyle>
          <a:p>
            <a:pPr marL="0" indent="0">
              <a:buNone/>
            </a:pPr>
            <a:endParaRPr lang="en-US" sz="6600" dirty="0"/>
          </a:p>
        </p:txBody>
      </p:sp>
      <p:sp>
        <p:nvSpPr>
          <p:cNvPr id="3" name="Text 0"/>
          <p:cNvSpPr>
            <a:spLocks noGrp="1"/>
          </p:cNvSpPr>
          <p:nvPr>
            <p:ph type="title" idx="101" hasCustomPrompt="1"/>
          </p:nvPr>
        </p:nvSpPr>
        <p:spPr>
          <a:xfrm>
            <a:off x="731520" y="2834640"/>
            <a:ext cx="10515600" cy="91440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3886200"/>
            <a:ext cx="9601200" cy="91440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scala Content">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rtlCol="0"/>
          <a:lstStyle>
            <a:lvl1pPr marL="0" indent="0" algn="l">
              <a:buNone/>
              <a:defRPr lang="en-US" sz="36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t"/>
          <a:lstStyle/>
          <a:p>
            <a:pPr marL="0" indent="0">
              <a:buNone/>
            </a:pPr>
            <a:r>
              <a:rPr lang="en-US" sz="1000" dirty="0">
                <a:solidFill>
                  <a:schemeClr val="tx2"/>
                </a:solidFill>
              </a:rPr>
              <a:t>Escala  ·  Sprint 1 progress status</a:t>
            </a:r>
            <a:endParaRPr lang="en-US" sz="1000" dirty="0"/>
          </a:p>
        </p:txBody>
      </p:sp>
      <p:sp>
        <p:nvSpPr>
          <p:cNvPr id="25"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scala Closing">
    <p:bg>
      <p:bgPr>
        <a:solidFill>
          <a:srgbClr val="1E25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188720"/>
          </a:xfrm>
          <a:prstGeom prst="rect">
            <a:avLst/>
          </a:prstGeom>
          <a:noFill/>
          <a:ln/>
        </p:spPr>
        <p:txBody>
          <a:bodyPr wrap="square" rtlCol="0"/>
          <a:lstStyle>
            <a:lvl1pPr marL="0" indent="0" algn="l">
              <a:buNone/>
              <a:defRPr lang="en-US" sz="6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6000" dirty="0"/>
          </a:p>
        </p:txBody>
      </p:sp>
      <p:sp>
        <p:nvSpPr>
          <p:cNvPr id="3" name="Text 0"/>
          <p:cNvSpPr>
            <a:spLocks noGrp="1"/>
          </p:cNvSpPr>
          <p:nvPr>
            <p:ph type="body" idx="101" hasCustomPrompt="1"/>
          </p:nvPr>
        </p:nvSpPr>
        <p:spPr>
          <a:xfrm>
            <a:off x="731520" y="3383280"/>
            <a:ext cx="10698480" cy="731520"/>
          </a:xfrm>
          <a:prstGeom prst="rect">
            <a:avLst/>
          </a:prstGeom>
          <a:noFill/>
          <a:ln/>
        </p:spPr>
        <p:txBody>
          <a:bodyPr wrap="square" rtlCol="0"/>
          <a:lstStyle>
            <a:lvl1pPr marL="0" indent="0">
              <a:buNone/>
              <a:defRPr lang="en-US" sz="2400" dirty="0">
                <a:solidFill>
                  <a:schemeClr val="accent6"/>
                </a:solidFill>
              </a:defRPr>
            </a:lvl1pPr>
          </a:lstStyle>
          <a:p>
            <a:pPr marL="0" indent="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828800"/>
            <a:ext cx="6035040" cy="1188720"/>
          </a:xfrm>
          <a:prstGeom prst="rect">
            <a:avLst/>
          </a:prstGeom>
          <a:noFill/>
          <a:ln/>
        </p:spPr>
        <p:txBody>
          <a:bodyPr wrap="square" lIns="0" tIns="0" rIns="0" bIns="0" rtlCol="0" anchor="b"/>
          <a:lstStyle/>
          <a:p>
            <a:pPr marL="0" indent="0" algn="l">
              <a:buNone/>
            </a:pPr>
            <a:r>
              <a:rPr lang="en-US" sz="6000" b="1" dirty="0">
                <a:solidFill>
                  <a:schemeClr val="bg1"/>
                </a:solidFill>
                <a:latin typeface="Cambria" pitchFamily="34" charset="0"/>
                <a:ea typeface="Cambria" pitchFamily="34" charset="-122"/>
                <a:cs typeface="Cambria" pitchFamily="34" charset="-120"/>
              </a:rPr>
              <a:t>Escala</a:t>
            </a:r>
            <a:endParaRPr lang="en-US" sz="6000" dirty="0"/>
          </a:p>
        </p:txBody>
      </p:sp>
      <p:sp>
        <p:nvSpPr>
          <p:cNvPr id="3" name="Text 1"/>
          <p:cNvSpPr>
            <a:spLocks noGrp="1"/>
          </p:cNvSpPr>
          <p:nvPr>
            <p:ph type="body" idx="102" hasCustomPrompt="1"/>
          </p:nvPr>
        </p:nvSpPr>
        <p:spPr>
          <a:xfrm>
            <a:off x="731520" y="3154680"/>
            <a:ext cx="6035040" cy="548640"/>
          </a:xfrm>
          <a:prstGeom prst="rect">
            <a:avLst/>
          </a:prstGeom>
          <a:noFill/>
          <a:ln/>
        </p:spPr>
        <p:txBody>
          <a:bodyPr wrap="square" lIns="0" tIns="0" rIns="0" bIns="0" rtlCol="0" anchor="t"/>
          <a:lstStyle/>
          <a:p>
            <a:pPr marL="0" indent="0">
              <a:buNone/>
            </a:pPr>
            <a:r>
              <a:rPr lang="en-US" sz="2200" dirty="0">
                <a:solidFill>
                  <a:schemeClr val="accent6"/>
                </a:solidFill>
              </a:rPr>
              <a:t>Fire Station Shift Management Platform</a:t>
            </a:r>
            <a:endParaRPr lang="en-US" sz="2200" dirty="0"/>
          </a:p>
        </p:txBody>
      </p:sp>
      <p:sp>
        <p:nvSpPr>
          <p:cNvPr id="4" name="Text 1"/>
          <p:cNvSpPr>
            <a:spLocks noGrp="1"/>
          </p:cNvSpPr>
          <p:nvPr>
            <p:ph type="body" idx="103" hasCustomPrompt="1"/>
          </p:nvPr>
        </p:nvSpPr>
        <p:spPr>
          <a:xfrm>
            <a:off x="731520" y="4160520"/>
            <a:ext cx="6035040" cy="1097280"/>
          </a:xfrm>
          <a:prstGeom prst="rect">
            <a:avLst/>
          </a:prstGeom>
          <a:noFill/>
          <a:ln/>
        </p:spPr>
        <p:txBody>
          <a:bodyPr wrap="square" lIns="0" tIns="0" rIns="0" bIns="0" rtlCol="0" anchor="t"/>
          <a:lstStyle/>
          <a:p>
            <a:pPr marL="0" indent="0">
              <a:buNone/>
            </a:pPr>
            <a:r>
              <a:rPr lang="en-US" sz="1800" dirty="0">
                <a:solidFill>
                  <a:schemeClr val="bg1"/>
                </a:solidFill>
              </a:rPr>
              <a:t>Sprint 1 · Idea Presentation</a:t>
            </a:r>
            <a:endParaRPr lang="en-US" sz="1800" dirty="0"/>
          </a:p>
          <a:p>
            <a:pPr marL="0" indent="0">
              <a:buNone/>
            </a:pPr>
            <a:r>
              <a:rPr lang="en-US" sz="1800" dirty="0">
                <a:solidFill>
                  <a:schemeClr val="bg1"/>
                </a:solidFill>
              </a:rPr>
              <a:t>and Progress Status Report</a:t>
            </a:r>
            <a:endParaRPr lang="en-US" sz="1800" dirty="0"/>
          </a:p>
        </p:txBody>
      </p:sp>
      <p:sp>
        <p:nvSpPr>
          <p:cNvPr id="5" name="Fire circle"/>
          <p:cNvSpPr/>
          <p:nvPr/>
        </p:nvSpPr>
        <p:spPr>
          <a:xfrm>
            <a:off x="731520" y="731520"/>
            <a:ext cx="731520" cy="731520"/>
          </a:xfrm>
          <a:prstGeom prst="ellipse">
            <a:avLst/>
          </a:prstGeom>
          <a:solidFill>
            <a:schemeClr val="accent1"/>
          </a:solidFill>
          <a:ln/>
        </p:spPr>
        <p:txBody>
          <a:bodyPr/>
          <a:lstStyle/>
          <a:p>
            <a:endParaRPr lang="pt-PT"/>
          </a:p>
        </p:txBody>
      </p:sp>
      <p:pic>
        <p:nvPicPr>
          <p:cNvPr id="6" name="Fire icon" descr="preencoded.png"/>
          <p:cNvPicPr>
            <a:picLocks noChangeAspect="1"/>
          </p:cNvPicPr>
          <p:nvPr/>
        </p:nvPicPr>
        <p:blipFill>
          <a:blip r:embed="rId3"/>
          <a:stretch>
            <a:fillRect/>
          </a:stretch>
        </p:blipFill>
        <p:spPr>
          <a:xfrm>
            <a:off x="914400" y="914400"/>
            <a:ext cx="365760" cy="365760"/>
          </a:xfrm>
          <a:prstGeom prst="rect">
            <a:avLst/>
          </a:prstGeom>
        </p:spPr>
      </p:pic>
      <p:pic>
        <p:nvPicPr>
          <p:cNvPr id="7" name="ISEP logo" descr="C:\Users\diogo\AppData\Local\Temp\claude\C--Users-diogo-Desktop-LABSOFT-LABDSOF-2627-1221137-1211439-1211514-1250505\51361c6d-1f23-4c3a-be2a-455eb909ff5f\scratchpad\deck\img\isep-logo.png"/>
          <p:cNvPicPr>
            <a:picLocks noChangeAspect="1"/>
          </p:cNvPicPr>
          <p:nvPr/>
        </p:nvPicPr>
        <p:blipFill>
          <a:blip r:embed="rId4"/>
          <a:stretch>
            <a:fillRect/>
          </a:stretch>
        </p:blipFill>
        <p:spPr>
          <a:xfrm>
            <a:off x="7772400" y="811225"/>
            <a:ext cx="3886200" cy="572110"/>
          </a:xfrm>
          <a:prstGeom prst="rect">
            <a:avLst/>
          </a:prstGeom>
        </p:spPr>
      </p:pic>
      <p:sp>
        <p:nvSpPr>
          <p:cNvPr id="8" name="Text 4"/>
          <p:cNvSpPr txBox="1"/>
          <p:nvPr/>
        </p:nvSpPr>
        <p:spPr>
          <a:xfrm>
            <a:off x="7772400" y="1691640"/>
            <a:ext cx="3886200" cy="320040"/>
          </a:xfrm>
          <a:prstGeom prst="rect">
            <a:avLst/>
          </a:prstGeom>
          <a:noFill/>
          <a:ln/>
        </p:spPr>
        <p:txBody>
          <a:bodyPr wrap="square" lIns="0" tIns="0" rIns="0" bIns="0" rtlCol="0" anchor="t"/>
          <a:lstStyle/>
          <a:p>
            <a:pPr marL="0" indent="0">
              <a:buNone/>
            </a:pPr>
            <a:r>
              <a:rPr lang="en-US" sz="1600" b="1" dirty="0">
                <a:solidFill>
                  <a:schemeClr val="tx1"/>
                </a:solidFill>
              </a:rPr>
              <a:t>LABDSOF 2026/27</a:t>
            </a:r>
            <a:endParaRPr lang="en-US" sz="1600" dirty="0"/>
          </a:p>
        </p:txBody>
      </p:sp>
      <p:sp>
        <p:nvSpPr>
          <p:cNvPr id="9" name="Text 5"/>
          <p:cNvSpPr txBox="1"/>
          <p:nvPr/>
        </p:nvSpPr>
        <p:spPr>
          <a:xfrm>
            <a:off x="7772400" y="2011680"/>
            <a:ext cx="3886200" cy="274320"/>
          </a:xfrm>
          <a:prstGeom prst="rect">
            <a:avLst/>
          </a:prstGeom>
          <a:noFill/>
          <a:ln/>
        </p:spPr>
        <p:txBody>
          <a:bodyPr wrap="square" lIns="0" tIns="0" rIns="0" bIns="0" rtlCol="0" anchor="t"/>
          <a:lstStyle/>
          <a:p>
            <a:pPr marL="0" indent="0">
              <a:buNone/>
            </a:pPr>
            <a:r>
              <a:rPr lang="en-US" sz="1400" dirty="0">
                <a:solidFill>
                  <a:schemeClr val="tx2"/>
                </a:solidFill>
              </a:rPr>
              <a:t>Masters in Software Engineering</a:t>
            </a:r>
            <a:endParaRPr lang="en-US" sz="1400" dirty="0"/>
          </a:p>
        </p:txBody>
      </p:sp>
      <p:sp>
        <p:nvSpPr>
          <p:cNvPr id="10" name="Text 6"/>
          <p:cNvSpPr txBox="1"/>
          <p:nvPr/>
        </p:nvSpPr>
        <p:spPr>
          <a:xfrm>
            <a:off x="7772400" y="3017520"/>
            <a:ext cx="3886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TEAM</a:t>
            </a:r>
            <a:endParaRPr lang="en-US" sz="1200" dirty="0"/>
          </a:p>
        </p:txBody>
      </p:sp>
      <p:sp>
        <p:nvSpPr>
          <p:cNvPr id="11" name="Text 7"/>
          <p:cNvSpPr txBox="1"/>
          <p:nvPr/>
        </p:nvSpPr>
        <p:spPr>
          <a:xfrm>
            <a:off x="7772400" y="3383280"/>
            <a:ext cx="2560320" cy="365760"/>
          </a:xfrm>
          <a:prstGeom prst="rect">
            <a:avLst/>
          </a:prstGeom>
          <a:noFill/>
          <a:ln/>
        </p:spPr>
        <p:txBody>
          <a:bodyPr wrap="square" lIns="0" tIns="0" rIns="0" bIns="0" rtlCol="0" anchor="ctr"/>
          <a:lstStyle/>
          <a:p>
            <a:pPr marL="0" indent="0">
              <a:buNone/>
            </a:pPr>
            <a:r>
              <a:rPr lang="en-US" sz="1600" dirty="0">
                <a:solidFill>
                  <a:schemeClr val="tx1"/>
                </a:solidFill>
              </a:rPr>
              <a:t>Diogo Pereira</a:t>
            </a:r>
            <a:endParaRPr lang="en-US" sz="1600" dirty="0"/>
          </a:p>
        </p:txBody>
      </p:sp>
      <p:sp>
        <p:nvSpPr>
          <p:cNvPr id="12" name="Text 8"/>
          <p:cNvSpPr txBox="1"/>
          <p:nvPr/>
        </p:nvSpPr>
        <p:spPr>
          <a:xfrm>
            <a:off x="10332720" y="3383280"/>
            <a:ext cx="1325880" cy="365760"/>
          </a:xfrm>
          <a:prstGeom prst="rect">
            <a:avLst/>
          </a:prstGeom>
          <a:noFill/>
          <a:ln/>
        </p:spPr>
        <p:txBody>
          <a:bodyPr wrap="square" lIns="0" tIns="0" rIns="0" bIns="0" rtlCol="0" anchor="ctr"/>
          <a:lstStyle/>
          <a:p>
            <a:pPr marL="0" indent="0" algn="r">
              <a:buNone/>
            </a:pPr>
            <a:r>
              <a:rPr lang="en-US" sz="1600" dirty="0">
                <a:solidFill>
                  <a:schemeClr val="tx2"/>
                </a:solidFill>
              </a:rPr>
              <a:t>1221137</a:t>
            </a:r>
            <a:endParaRPr lang="en-US" sz="1600" dirty="0"/>
          </a:p>
        </p:txBody>
      </p:sp>
      <p:sp>
        <p:nvSpPr>
          <p:cNvPr id="13" name="Text 9"/>
          <p:cNvSpPr txBox="1"/>
          <p:nvPr/>
        </p:nvSpPr>
        <p:spPr>
          <a:xfrm>
            <a:off x="7772400" y="3822192"/>
            <a:ext cx="2560320" cy="365760"/>
          </a:xfrm>
          <a:prstGeom prst="rect">
            <a:avLst/>
          </a:prstGeom>
          <a:noFill/>
          <a:ln/>
        </p:spPr>
        <p:txBody>
          <a:bodyPr wrap="square" lIns="0" tIns="0" rIns="0" bIns="0" rtlCol="0" anchor="ctr"/>
          <a:lstStyle/>
          <a:p>
            <a:pPr marL="0" indent="0">
              <a:buNone/>
            </a:pPr>
            <a:r>
              <a:rPr lang="en-US" sz="1600" dirty="0">
                <a:solidFill>
                  <a:schemeClr val="tx1"/>
                </a:solidFill>
              </a:rPr>
              <a:t>Diogo Sousa</a:t>
            </a:r>
            <a:endParaRPr lang="en-US" sz="1600" dirty="0"/>
          </a:p>
        </p:txBody>
      </p:sp>
      <p:sp>
        <p:nvSpPr>
          <p:cNvPr id="14" name="Text 10"/>
          <p:cNvSpPr txBox="1"/>
          <p:nvPr/>
        </p:nvSpPr>
        <p:spPr>
          <a:xfrm>
            <a:off x="10332720" y="3822192"/>
            <a:ext cx="1325880" cy="365760"/>
          </a:xfrm>
          <a:prstGeom prst="rect">
            <a:avLst/>
          </a:prstGeom>
          <a:noFill/>
          <a:ln/>
        </p:spPr>
        <p:txBody>
          <a:bodyPr wrap="square" lIns="0" tIns="0" rIns="0" bIns="0" rtlCol="0" anchor="ctr"/>
          <a:lstStyle/>
          <a:p>
            <a:pPr marL="0" indent="0" algn="r">
              <a:buNone/>
            </a:pPr>
            <a:r>
              <a:rPr lang="en-US" sz="1600" dirty="0">
                <a:solidFill>
                  <a:schemeClr val="tx2"/>
                </a:solidFill>
              </a:rPr>
              <a:t>1250505</a:t>
            </a:r>
            <a:endParaRPr lang="en-US" sz="1600" dirty="0"/>
          </a:p>
        </p:txBody>
      </p:sp>
      <p:sp>
        <p:nvSpPr>
          <p:cNvPr id="15" name="Text 11"/>
          <p:cNvSpPr txBox="1"/>
          <p:nvPr/>
        </p:nvSpPr>
        <p:spPr>
          <a:xfrm>
            <a:off x="7772400" y="4261104"/>
            <a:ext cx="2560320" cy="365760"/>
          </a:xfrm>
          <a:prstGeom prst="rect">
            <a:avLst/>
          </a:prstGeom>
          <a:noFill/>
          <a:ln/>
        </p:spPr>
        <p:txBody>
          <a:bodyPr wrap="square" lIns="0" tIns="0" rIns="0" bIns="0" rtlCol="0" anchor="ctr"/>
          <a:lstStyle/>
          <a:p>
            <a:pPr marL="0" indent="0">
              <a:buNone/>
            </a:pPr>
            <a:r>
              <a:rPr lang="en-US" sz="1600" dirty="0">
                <a:solidFill>
                  <a:schemeClr val="tx1"/>
                </a:solidFill>
              </a:rPr>
              <a:t>Pedro Costa</a:t>
            </a:r>
            <a:endParaRPr lang="en-US" sz="1600" dirty="0"/>
          </a:p>
        </p:txBody>
      </p:sp>
      <p:sp>
        <p:nvSpPr>
          <p:cNvPr id="16" name="Text 12"/>
          <p:cNvSpPr txBox="1"/>
          <p:nvPr/>
        </p:nvSpPr>
        <p:spPr>
          <a:xfrm>
            <a:off x="10332720" y="4261104"/>
            <a:ext cx="1325880" cy="365760"/>
          </a:xfrm>
          <a:prstGeom prst="rect">
            <a:avLst/>
          </a:prstGeom>
          <a:noFill/>
          <a:ln/>
        </p:spPr>
        <p:txBody>
          <a:bodyPr wrap="square" lIns="0" tIns="0" rIns="0" bIns="0" rtlCol="0" anchor="ctr"/>
          <a:lstStyle/>
          <a:p>
            <a:pPr marL="0" indent="0" algn="r">
              <a:buNone/>
            </a:pPr>
            <a:r>
              <a:rPr lang="en-US" sz="1600" dirty="0">
                <a:solidFill>
                  <a:schemeClr val="tx2"/>
                </a:solidFill>
              </a:rPr>
              <a:t>1211439</a:t>
            </a:r>
            <a:endParaRPr lang="en-US" sz="1600" dirty="0"/>
          </a:p>
        </p:txBody>
      </p:sp>
      <p:sp>
        <p:nvSpPr>
          <p:cNvPr id="17" name="Text 13"/>
          <p:cNvSpPr txBox="1"/>
          <p:nvPr/>
        </p:nvSpPr>
        <p:spPr>
          <a:xfrm>
            <a:off x="7772400" y="4700016"/>
            <a:ext cx="2560320" cy="365760"/>
          </a:xfrm>
          <a:prstGeom prst="rect">
            <a:avLst/>
          </a:prstGeom>
          <a:noFill/>
          <a:ln/>
        </p:spPr>
        <p:txBody>
          <a:bodyPr wrap="square" lIns="0" tIns="0" rIns="0" bIns="0" rtlCol="0" anchor="ctr"/>
          <a:lstStyle/>
          <a:p>
            <a:pPr marL="0" indent="0">
              <a:buNone/>
            </a:pPr>
            <a:r>
              <a:rPr lang="en-US" sz="1600" dirty="0">
                <a:solidFill>
                  <a:schemeClr val="tx1"/>
                </a:solidFill>
              </a:rPr>
              <a:t>Diogo Costa</a:t>
            </a:r>
            <a:endParaRPr lang="en-US" sz="1600" dirty="0"/>
          </a:p>
        </p:txBody>
      </p:sp>
      <p:sp>
        <p:nvSpPr>
          <p:cNvPr id="18" name="Text 14"/>
          <p:cNvSpPr txBox="1"/>
          <p:nvPr/>
        </p:nvSpPr>
        <p:spPr>
          <a:xfrm>
            <a:off x="10332720" y="4700016"/>
            <a:ext cx="1325880" cy="365760"/>
          </a:xfrm>
          <a:prstGeom prst="rect">
            <a:avLst/>
          </a:prstGeom>
          <a:noFill/>
          <a:ln/>
        </p:spPr>
        <p:txBody>
          <a:bodyPr wrap="square" lIns="0" tIns="0" rIns="0" bIns="0" rtlCol="0" anchor="ctr"/>
          <a:lstStyle/>
          <a:p>
            <a:pPr marL="0" indent="0" algn="r">
              <a:buNone/>
            </a:pPr>
            <a:r>
              <a:rPr lang="en-US" sz="1600" dirty="0">
                <a:solidFill>
                  <a:schemeClr val="tx2"/>
                </a:solidFill>
              </a:rPr>
              <a:t>1211514</a:t>
            </a:r>
            <a:endParaRPr lang="en-US" sz="1600" dirty="0"/>
          </a:p>
        </p:txBody>
      </p:sp>
      <p:sp>
        <p:nvSpPr>
          <p:cNvPr id="19" name="Text 15"/>
          <p:cNvSpPr txBox="1"/>
          <p:nvPr/>
        </p:nvSpPr>
        <p:spPr>
          <a:xfrm>
            <a:off x="7772400" y="5806440"/>
            <a:ext cx="3886200" cy="320040"/>
          </a:xfrm>
          <a:prstGeom prst="rect">
            <a:avLst/>
          </a:prstGeom>
          <a:noFill/>
          <a:ln/>
        </p:spPr>
        <p:txBody>
          <a:bodyPr wrap="square" lIns="0" tIns="0" rIns="0" bIns="0" rtlCol="0" anchor="t"/>
          <a:lstStyle/>
          <a:p>
            <a:pPr marL="0" indent="0">
              <a:buNone/>
            </a:pPr>
            <a:r>
              <a:rPr lang="en-US" sz="1400" dirty="0">
                <a:solidFill>
                  <a:schemeClr val="tx2"/>
                </a:solidFill>
              </a:rPr>
              <a:t>Porto, 10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The problems Escala must address</a:t>
            </a:r>
            <a:endParaRPr lang="en-US" sz="3600" dirty="0"/>
          </a:p>
        </p:txBody>
      </p:sp>
      <p:sp>
        <p:nvSpPr>
          <p:cNvPr id="4" name="Text 1"/>
          <p:cNvSpPr txBox="1"/>
          <p:nvPr/>
        </p:nvSpPr>
        <p:spPr>
          <a:xfrm>
            <a:off x="2926080" y="1417320"/>
            <a:ext cx="3840480" cy="274320"/>
          </a:xfrm>
          <a:prstGeom prst="rect">
            <a:avLst/>
          </a:prstGeom>
          <a:noFill/>
          <a:ln/>
        </p:spPr>
        <p:txBody>
          <a:bodyPr wrap="square" lIns="0" tIns="0" rIns="0" bIns="0" rtlCol="0" anchor="t"/>
          <a:lstStyle/>
          <a:p>
            <a:pPr marL="0" indent="0">
              <a:buNone/>
            </a:pPr>
            <a:r>
              <a:rPr lang="en-US" sz="1200" b="1" kern="0" spc="200" dirty="0">
                <a:solidFill>
                  <a:schemeClr val="tx2"/>
                </a:solidFill>
              </a:rPr>
              <a:t>TODAY</a:t>
            </a:r>
            <a:endParaRPr lang="en-US" sz="1200" dirty="0"/>
          </a:p>
        </p:txBody>
      </p:sp>
      <p:sp>
        <p:nvSpPr>
          <p:cNvPr id="5" name="Text 2"/>
          <p:cNvSpPr txBox="1"/>
          <p:nvPr/>
        </p:nvSpPr>
        <p:spPr>
          <a:xfrm>
            <a:off x="7406640" y="1417320"/>
            <a:ext cx="4236415"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WITH ESCALA</a:t>
            </a:r>
            <a:endParaRPr lang="en-US" sz="1200" dirty="0"/>
          </a:p>
        </p:txBody>
      </p:sp>
      <p:sp>
        <p:nvSpPr>
          <p:cNvPr id="6" name="Row 1 circle"/>
          <p:cNvSpPr/>
          <p:nvPr/>
        </p:nvSpPr>
        <p:spPr>
          <a:xfrm>
            <a:off x="548640" y="2217420"/>
            <a:ext cx="548640" cy="548640"/>
          </a:xfrm>
          <a:prstGeom prst="ellipse">
            <a:avLst/>
          </a:prstGeom>
          <a:solidFill>
            <a:schemeClr val="tx1"/>
          </a:solidFill>
          <a:ln/>
        </p:spPr>
        <p:txBody>
          <a:bodyPr/>
          <a:lstStyle/>
          <a:p>
            <a:endParaRPr lang="pt-PT"/>
          </a:p>
        </p:txBody>
      </p:sp>
      <p:pic>
        <p:nvPicPr>
          <p:cNvPr id="7" name="Row 1 icon" descr="preencoded.png"/>
          <p:cNvPicPr>
            <a:picLocks noChangeAspect="1"/>
          </p:cNvPicPr>
          <p:nvPr/>
        </p:nvPicPr>
        <p:blipFill>
          <a:blip r:embed="rId3"/>
          <a:stretch>
            <a:fillRect/>
          </a:stretch>
        </p:blipFill>
        <p:spPr>
          <a:xfrm>
            <a:off x="685800" y="2354580"/>
            <a:ext cx="274320" cy="274320"/>
          </a:xfrm>
          <a:prstGeom prst="rect">
            <a:avLst/>
          </a:prstGeom>
        </p:spPr>
      </p:pic>
      <p:sp>
        <p:nvSpPr>
          <p:cNvPr id="8" name="Text 4"/>
          <p:cNvSpPr txBox="1"/>
          <p:nvPr/>
        </p:nvSpPr>
        <p:spPr>
          <a:xfrm>
            <a:off x="1234440" y="1828800"/>
            <a:ext cx="1508760" cy="1325880"/>
          </a:xfrm>
          <a:prstGeom prst="rect">
            <a:avLst/>
          </a:prstGeom>
          <a:noFill/>
          <a:ln/>
        </p:spPr>
        <p:txBody>
          <a:bodyPr wrap="square" lIns="0" tIns="0" rIns="0" bIns="0" rtlCol="0" anchor="ctr"/>
          <a:lstStyle/>
          <a:p>
            <a:pPr marL="0" indent="0">
              <a:buNone/>
            </a:pPr>
            <a:r>
              <a:rPr lang="en-US" sz="1600" b="1" dirty="0">
                <a:solidFill>
                  <a:schemeClr val="tx1"/>
                </a:solidFill>
              </a:rPr>
              <a:t>Checking the schedule</a:t>
            </a:r>
            <a:endParaRPr lang="en-US" sz="1600" dirty="0"/>
          </a:p>
        </p:txBody>
      </p:sp>
      <p:sp>
        <p:nvSpPr>
          <p:cNvPr id="9" name="Today 1"/>
          <p:cNvSpPr/>
          <p:nvPr/>
        </p:nvSpPr>
        <p:spPr>
          <a:xfrm>
            <a:off x="2926080" y="1828800"/>
            <a:ext cx="3840480" cy="1325880"/>
          </a:xfrm>
          <a:prstGeom prst="roundRect">
            <a:avLst>
              <a:gd name="adj" fmla="val 5517"/>
            </a:avLst>
          </a:prstGeom>
          <a:solidFill>
            <a:schemeClr val="bg2"/>
          </a:solidFill>
          <a:ln w="9525">
            <a:solidFill>
              <a:srgbClr val="D5DAE1"/>
            </a:solidFill>
            <a:prstDash val="solid"/>
          </a:ln>
        </p:spPr>
        <p:txBody>
          <a:bodyPr/>
          <a:lstStyle/>
          <a:p>
            <a:endParaRPr lang="pt-PT"/>
          </a:p>
        </p:txBody>
      </p:sp>
      <p:sp>
        <p:nvSpPr>
          <p:cNvPr id="10" name="Text 6"/>
          <p:cNvSpPr txBox="1"/>
          <p:nvPr/>
        </p:nvSpPr>
        <p:spPr>
          <a:xfrm>
            <a:off x="3154680" y="1828800"/>
            <a:ext cx="3383280" cy="1325880"/>
          </a:xfrm>
          <a:prstGeom prst="rect">
            <a:avLst/>
          </a:prstGeom>
          <a:noFill/>
          <a:ln/>
        </p:spPr>
        <p:txBody>
          <a:bodyPr wrap="square" lIns="0" tIns="0" rIns="0" bIns="0" rtlCol="0" anchor="ctr"/>
          <a:lstStyle/>
          <a:p>
            <a:pPr marL="0" indent="0">
              <a:buNone/>
            </a:pPr>
            <a:r>
              <a:rPr lang="en-US" sz="1500" dirty="0">
                <a:solidFill>
                  <a:schemeClr val="tx2"/>
                </a:solidFill>
              </a:rPr>
              <a:t>Members travel to the station or wait for a WhatsApp photo that may never be posted.</a:t>
            </a:r>
            <a:endParaRPr lang="en-US" sz="1500" dirty="0"/>
          </a:p>
        </p:txBody>
      </p:sp>
      <p:pic>
        <p:nvPicPr>
          <p:cNvPr id="11" name="Arrow 1" descr="preencoded.png"/>
          <p:cNvPicPr>
            <a:picLocks noChangeAspect="1"/>
          </p:cNvPicPr>
          <p:nvPr/>
        </p:nvPicPr>
        <p:blipFill>
          <a:blip r:embed="rId4"/>
          <a:stretch>
            <a:fillRect/>
          </a:stretch>
        </p:blipFill>
        <p:spPr>
          <a:xfrm>
            <a:off x="6903720" y="2327148"/>
            <a:ext cx="329184" cy="329184"/>
          </a:xfrm>
          <a:prstGeom prst="rect">
            <a:avLst/>
          </a:prstGeom>
        </p:spPr>
      </p:pic>
      <p:sp>
        <p:nvSpPr>
          <p:cNvPr id="12" name="Escala 1"/>
          <p:cNvSpPr/>
          <p:nvPr/>
        </p:nvSpPr>
        <p:spPr>
          <a:xfrm>
            <a:off x="7406640" y="1828800"/>
            <a:ext cx="4236415" cy="1325880"/>
          </a:xfrm>
          <a:prstGeom prst="roundRect">
            <a:avLst>
              <a:gd name="adj" fmla="val 5517"/>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3" name="Text 8"/>
          <p:cNvSpPr txBox="1"/>
          <p:nvPr/>
        </p:nvSpPr>
        <p:spPr>
          <a:xfrm>
            <a:off x="7635240" y="1828800"/>
            <a:ext cx="3779215" cy="1325880"/>
          </a:xfrm>
          <a:prstGeom prst="rect">
            <a:avLst/>
          </a:prstGeom>
          <a:noFill/>
          <a:ln/>
        </p:spPr>
        <p:txBody>
          <a:bodyPr wrap="square" lIns="0" tIns="0" rIns="0" bIns="0" rtlCol="0" anchor="ctr"/>
          <a:lstStyle/>
          <a:p>
            <a:pPr marL="0" indent="0">
              <a:buNone/>
            </a:pPr>
            <a:r>
              <a:rPr lang="en-US" sz="1500" dirty="0">
                <a:solidFill>
                  <a:schemeClr val="tx1"/>
                </a:solidFill>
              </a:rPr>
              <a:t>One always-current schedule on phones and station computers, with a notification for every change.</a:t>
            </a:r>
            <a:endParaRPr lang="en-US" sz="1500" dirty="0"/>
          </a:p>
        </p:txBody>
      </p:sp>
      <p:sp>
        <p:nvSpPr>
          <p:cNvPr id="14" name="Row 2 circle"/>
          <p:cNvSpPr/>
          <p:nvPr/>
        </p:nvSpPr>
        <p:spPr>
          <a:xfrm>
            <a:off x="548640" y="3726180"/>
            <a:ext cx="548640" cy="548640"/>
          </a:xfrm>
          <a:prstGeom prst="ellipse">
            <a:avLst/>
          </a:prstGeom>
          <a:solidFill>
            <a:schemeClr val="tx1"/>
          </a:solidFill>
          <a:ln/>
        </p:spPr>
        <p:txBody>
          <a:bodyPr/>
          <a:lstStyle/>
          <a:p>
            <a:endParaRPr lang="pt-PT"/>
          </a:p>
        </p:txBody>
      </p:sp>
      <p:pic>
        <p:nvPicPr>
          <p:cNvPr id="15" name="Row 2 icon" descr="preencoded.png"/>
          <p:cNvPicPr>
            <a:picLocks noChangeAspect="1"/>
          </p:cNvPicPr>
          <p:nvPr/>
        </p:nvPicPr>
        <p:blipFill>
          <a:blip r:embed="rId5"/>
          <a:stretch>
            <a:fillRect/>
          </a:stretch>
        </p:blipFill>
        <p:spPr>
          <a:xfrm>
            <a:off x="685800" y="3863340"/>
            <a:ext cx="274320" cy="274320"/>
          </a:xfrm>
          <a:prstGeom prst="rect">
            <a:avLst/>
          </a:prstGeom>
        </p:spPr>
      </p:pic>
      <p:sp>
        <p:nvSpPr>
          <p:cNvPr id="16" name="Text 10"/>
          <p:cNvSpPr txBox="1"/>
          <p:nvPr/>
        </p:nvSpPr>
        <p:spPr>
          <a:xfrm>
            <a:off x="1234440" y="3337560"/>
            <a:ext cx="1508760" cy="1325880"/>
          </a:xfrm>
          <a:prstGeom prst="rect">
            <a:avLst/>
          </a:prstGeom>
          <a:noFill/>
          <a:ln/>
        </p:spPr>
        <p:txBody>
          <a:bodyPr wrap="square" lIns="0" tIns="0" rIns="0" bIns="0" rtlCol="0" anchor="ctr"/>
          <a:lstStyle/>
          <a:p>
            <a:pPr marL="0" indent="0">
              <a:buNone/>
            </a:pPr>
            <a:r>
              <a:rPr lang="en-US" sz="1600" b="1" dirty="0">
                <a:solidFill>
                  <a:schemeClr val="tx1"/>
                </a:solidFill>
              </a:rPr>
              <a:t>Tracking changes</a:t>
            </a:r>
            <a:endParaRPr lang="en-US" sz="1600" dirty="0"/>
          </a:p>
        </p:txBody>
      </p:sp>
      <p:sp>
        <p:nvSpPr>
          <p:cNvPr id="17" name="Today 2"/>
          <p:cNvSpPr/>
          <p:nvPr/>
        </p:nvSpPr>
        <p:spPr>
          <a:xfrm>
            <a:off x="2926080" y="3337560"/>
            <a:ext cx="3840480" cy="1325880"/>
          </a:xfrm>
          <a:prstGeom prst="roundRect">
            <a:avLst>
              <a:gd name="adj" fmla="val 5517"/>
            </a:avLst>
          </a:prstGeom>
          <a:solidFill>
            <a:schemeClr val="bg2"/>
          </a:solidFill>
          <a:ln w="9525">
            <a:solidFill>
              <a:srgbClr val="D5DAE1"/>
            </a:solidFill>
            <a:prstDash val="solid"/>
          </a:ln>
        </p:spPr>
        <p:txBody>
          <a:bodyPr/>
          <a:lstStyle/>
          <a:p>
            <a:endParaRPr lang="pt-PT"/>
          </a:p>
        </p:txBody>
      </p:sp>
      <p:sp>
        <p:nvSpPr>
          <p:cNvPr id="18" name="Text 12"/>
          <p:cNvSpPr txBox="1"/>
          <p:nvPr/>
        </p:nvSpPr>
        <p:spPr>
          <a:xfrm>
            <a:off x="3154680" y="3337560"/>
            <a:ext cx="3383280" cy="1325880"/>
          </a:xfrm>
          <a:prstGeom prst="rect">
            <a:avLst/>
          </a:prstGeom>
          <a:noFill/>
          <a:ln/>
        </p:spPr>
        <p:txBody>
          <a:bodyPr wrap="square" lIns="0" tIns="0" rIns="0" bIns="0" rtlCol="0" anchor="ctr"/>
          <a:lstStyle/>
          <a:p>
            <a:pPr marL="0" indent="0">
              <a:buNone/>
            </a:pPr>
            <a:r>
              <a:rPr lang="en-US" sz="1500" dirty="0">
                <a:solidFill>
                  <a:schemeClr val="tx2"/>
                </a:solidFill>
              </a:rPr>
              <a:t>Extensions and swaps get lost, and every change means editing and reprinting.</a:t>
            </a:r>
            <a:endParaRPr lang="en-US" sz="1500" dirty="0"/>
          </a:p>
        </p:txBody>
      </p:sp>
      <p:pic>
        <p:nvPicPr>
          <p:cNvPr id="19" name="Arrow 2" descr="preencoded.png"/>
          <p:cNvPicPr>
            <a:picLocks noChangeAspect="1"/>
          </p:cNvPicPr>
          <p:nvPr/>
        </p:nvPicPr>
        <p:blipFill>
          <a:blip r:embed="rId4"/>
          <a:stretch>
            <a:fillRect/>
          </a:stretch>
        </p:blipFill>
        <p:spPr>
          <a:xfrm>
            <a:off x="6903720" y="3835908"/>
            <a:ext cx="329184" cy="329184"/>
          </a:xfrm>
          <a:prstGeom prst="rect">
            <a:avLst/>
          </a:prstGeom>
        </p:spPr>
      </p:pic>
      <p:sp>
        <p:nvSpPr>
          <p:cNvPr id="20" name="Escala 2"/>
          <p:cNvSpPr/>
          <p:nvPr/>
        </p:nvSpPr>
        <p:spPr>
          <a:xfrm>
            <a:off x="7406640" y="3337560"/>
            <a:ext cx="4236415" cy="1325880"/>
          </a:xfrm>
          <a:prstGeom prst="roundRect">
            <a:avLst>
              <a:gd name="adj" fmla="val 5517"/>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1" name="Text 14"/>
          <p:cNvSpPr txBox="1"/>
          <p:nvPr/>
        </p:nvSpPr>
        <p:spPr>
          <a:xfrm>
            <a:off x="7635240" y="3337560"/>
            <a:ext cx="3779215" cy="1325880"/>
          </a:xfrm>
          <a:prstGeom prst="rect">
            <a:avLst/>
          </a:prstGeom>
          <a:noFill/>
          <a:ln/>
        </p:spPr>
        <p:txBody>
          <a:bodyPr wrap="square" lIns="0" tIns="0" rIns="0" bIns="0" rtlCol="0" anchor="ctr"/>
          <a:lstStyle/>
          <a:p>
            <a:pPr marL="0" indent="0">
              <a:buNone/>
            </a:pPr>
            <a:r>
              <a:rPr lang="en-US" sz="1500" dirty="0">
                <a:solidFill>
                  <a:schemeClr val="tx1"/>
                </a:solidFill>
              </a:rPr>
              <a:t>Every change is recorded in the app. Firefighters register extensions after the emergency, for approval.</a:t>
            </a:r>
            <a:endParaRPr lang="en-US" sz="1500" dirty="0"/>
          </a:p>
        </p:txBody>
      </p:sp>
      <p:sp>
        <p:nvSpPr>
          <p:cNvPr id="22" name="Row 3 circle"/>
          <p:cNvSpPr/>
          <p:nvPr/>
        </p:nvSpPr>
        <p:spPr>
          <a:xfrm>
            <a:off x="548640" y="5234940"/>
            <a:ext cx="548640" cy="548640"/>
          </a:xfrm>
          <a:prstGeom prst="ellipse">
            <a:avLst/>
          </a:prstGeom>
          <a:solidFill>
            <a:schemeClr val="tx1"/>
          </a:solidFill>
          <a:ln/>
        </p:spPr>
        <p:txBody>
          <a:bodyPr/>
          <a:lstStyle/>
          <a:p>
            <a:endParaRPr lang="pt-PT"/>
          </a:p>
        </p:txBody>
      </p:sp>
      <p:pic>
        <p:nvPicPr>
          <p:cNvPr id="23" name="Row 3 icon" descr="preencoded.png"/>
          <p:cNvPicPr>
            <a:picLocks noChangeAspect="1"/>
          </p:cNvPicPr>
          <p:nvPr/>
        </p:nvPicPr>
        <p:blipFill>
          <a:blip r:embed="rId6"/>
          <a:stretch>
            <a:fillRect/>
          </a:stretch>
        </p:blipFill>
        <p:spPr>
          <a:xfrm>
            <a:off x="685800" y="5372100"/>
            <a:ext cx="274320" cy="274320"/>
          </a:xfrm>
          <a:prstGeom prst="rect">
            <a:avLst/>
          </a:prstGeom>
        </p:spPr>
      </p:pic>
      <p:sp>
        <p:nvSpPr>
          <p:cNvPr id="24" name="Text 16"/>
          <p:cNvSpPr txBox="1"/>
          <p:nvPr/>
        </p:nvSpPr>
        <p:spPr>
          <a:xfrm>
            <a:off x="1234440" y="4846320"/>
            <a:ext cx="1508760" cy="1325880"/>
          </a:xfrm>
          <a:prstGeom prst="rect">
            <a:avLst/>
          </a:prstGeom>
          <a:noFill/>
          <a:ln/>
        </p:spPr>
        <p:txBody>
          <a:bodyPr wrap="square" lIns="0" tIns="0" rIns="0" bIns="0" rtlCol="0" anchor="ctr"/>
          <a:lstStyle/>
          <a:p>
            <a:pPr marL="0" indent="0">
              <a:buNone/>
            </a:pPr>
            <a:r>
              <a:rPr lang="en-US" sz="1600" b="1" dirty="0">
                <a:solidFill>
                  <a:schemeClr val="tx1"/>
                </a:solidFill>
              </a:rPr>
              <a:t>Requesting swaps</a:t>
            </a:r>
            <a:endParaRPr lang="en-US" sz="1600" dirty="0"/>
          </a:p>
        </p:txBody>
      </p:sp>
      <p:sp>
        <p:nvSpPr>
          <p:cNvPr id="25" name="Today 3"/>
          <p:cNvSpPr/>
          <p:nvPr/>
        </p:nvSpPr>
        <p:spPr>
          <a:xfrm>
            <a:off x="2926080" y="4846320"/>
            <a:ext cx="3840480" cy="1325880"/>
          </a:xfrm>
          <a:prstGeom prst="roundRect">
            <a:avLst>
              <a:gd name="adj" fmla="val 5517"/>
            </a:avLst>
          </a:prstGeom>
          <a:solidFill>
            <a:schemeClr val="bg2"/>
          </a:solidFill>
          <a:ln w="9525">
            <a:solidFill>
              <a:srgbClr val="D5DAE1"/>
            </a:solidFill>
            <a:prstDash val="solid"/>
          </a:ln>
        </p:spPr>
        <p:txBody>
          <a:bodyPr/>
          <a:lstStyle/>
          <a:p>
            <a:endParaRPr lang="pt-PT"/>
          </a:p>
        </p:txBody>
      </p:sp>
      <p:sp>
        <p:nvSpPr>
          <p:cNvPr id="26" name="Text 18"/>
          <p:cNvSpPr txBox="1"/>
          <p:nvPr/>
        </p:nvSpPr>
        <p:spPr>
          <a:xfrm>
            <a:off x="3154680" y="4846320"/>
            <a:ext cx="3383280" cy="1325880"/>
          </a:xfrm>
          <a:prstGeom prst="rect">
            <a:avLst/>
          </a:prstGeom>
          <a:noFill/>
          <a:ln/>
        </p:spPr>
        <p:txBody>
          <a:bodyPr wrap="square" lIns="0" tIns="0" rIns="0" bIns="0" rtlCol="0" anchor="ctr"/>
          <a:lstStyle/>
          <a:p>
            <a:pPr marL="0" indent="0">
              <a:buNone/>
            </a:pPr>
            <a:r>
              <a:rPr lang="en-US" sz="1500" dirty="0">
                <a:solidFill>
                  <a:schemeClr val="tx2"/>
                </a:solidFill>
              </a:rPr>
              <a:t>Members find a partner themselves and report it, and often only one of them does.</a:t>
            </a:r>
            <a:endParaRPr lang="en-US" sz="1500" dirty="0"/>
          </a:p>
        </p:txBody>
      </p:sp>
      <p:pic>
        <p:nvPicPr>
          <p:cNvPr id="27" name="Arrow 3" descr="preencoded.png"/>
          <p:cNvPicPr>
            <a:picLocks noChangeAspect="1"/>
          </p:cNvPicPr>
          <p:nvPr/>
        </p:nvPicPr>
        <p:blipFill>
          <a:blip r:embed="rId4"/>
          <a:stretch>
            <a:fillRect/>
          </a:stretch>
        </p:blipFill>
        <p:spPr>
          <a:xfrm>
            <a:off x="6903720" y="5344668"/>
            <a:ext cx="329184" cy="329184"/>
          </a:xfrm>
          <a:prstGeom prst="rect">
            <a:avLst/>
          </a:prstGeom>
        </p:spPr>
      </p:pic>
      <p:sp>
        <p:nvSpPr>
          <p:cNvPr id="28" name="Escala 3"/>
          <p:cNvSpPr/>
          <p:nvPr/>
        </p:nvSpPr>
        <p:spPr>
          <a:xfrm>
            <a:off x="7406640" y="4846320"/>
            <a:ext cx="4236415" cy="1325880"/>
          </a:xfrm>
          <a:prstGeom prst="roundRect">
            <a:avLst>
              <a:gd name="adj" fmla="val 5517"/>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9" name="Text 20"/>
          <p:cNvSpPr txBox="1"/>
          <p:nvPr/>
        </p:nvSpPr>
        <p:spPr>
          <a:xfrm>
            <a:off x="7635240" y="4846320"/>
            <a:ext cx="3779215" cy="1325880"/>
          </a:xfrm>
          <a:prstGeom prst="rect">
            <a:avLst/>
          </a:prstGeom>
          <a:noFill/>
          <a:ln/>
        </p:spPr>
        <p:txBody>
          <a:bodyPr wrap="square" lIns="0" tIns="0" rIns="0" bIns="0" rtlCol="0" anchor="ctr"/>
          <a:lstStyle/>
          <a:p>
            <a:pPr marL="0" indent="0">
              <a:buNone/>
            </a:pPr>
            <a:r>
              <a:rPr lang="en-US" sz="1500" dirty="0">
                <a:solidFill>
                  <a:schemeClr val="tx1"/>
                </a:solidFill>
              </a:rPr>
              <a:t>Members request swaps in the app. Both see the result at once, and the supervisor gets a log.</a:t>
            </a:r>
            <a:endParaRPr lang="en-US" sz="1500" dirty="0"/>
          </a:p>
        </p:txBody>
      </p:sp>
      <p:sp>
        <p:nvSpPr>
          <p:cNvPr id="3"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Product Vision Board</a:t>
            </a:r>
            <a:endParaRPr lang="en-US" sz="3600" dirty="0"/>
          </a:p>
        </p:txBody>
      </p:sp>
      <p:sp>
        <p:nvSpPr>
          <p:cNvPr id="4" name="Vision board frame"/>
          <p:cNvSpPr/>
          <p:nvPr/>
        </p:nvSpPr>
        <p:spPr>
          <a:xfrm>
            <a:off x="475488" y="1402839"/>
            <a:ext cx="8284464" cy="4783842"/>
          </a:xfrm>
          <a:prstGeom prst="roundRect">
            <a:avLst>
              <a:gd name="adj" fmla="val 1529"/>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5" name="Product Vision Board" descr="Product Vision Board: vision, target group, needs, product and business goals"/>
          <p:cNvPicPr>
            <a:picLocks noChangeAspect="1"/>
          </p:cNvPicPr>
          <p:nvPr/>
        </p:nvPicPr>
        <p:blipFill>
          <a:blip r:embed="rId3"/>
          <a:stretch>
            <a:fillRect/>
          </a:stretch>
        </p:blipFill>
        <p:spPr>
          <a:xfrm>
            <a:off x="548640" y="1475991"/>
            <a:ext cx="8138160" cy="4637538"/>
          </a:xfrm>
          <a:prstGeom prst="rect">
            <a:avLst/>
          </a:prstGeom>
        </p:spPr>
      </p:pic>
      <p:sp>
        <p:nvSpPr>
          <p:cNvPr id="6" name="Text 2"/>
          <p:cNvSpPr txBox="1"/>
          <p:nvPr/>
        </p:nvSpPr>
        <p:spPr>
          <a:xfrm>
            <a:off x="9006840" y="1508760"/>
            <a:ext cx="2636215"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VISION</a:t>
            </a:r>
            <a:endParaRPr lang="en-US" sz="1200" dirty="0"/>
          </a:p>
        </p:txBody>
      </p:sp>
      <p:sp>
        <p:nvSpPr>
          <p:cNvPr id="7" name="Text 3"/>
          <p:cNvSpPr txBox="1"/>
          <p:nvPr/>
        </p:nvSpPr>
        <p:spPr>
          <a:xfrm>
            <a:off x="9006840" y="1874520"/>
            <a:ext cx="2636215" cy="2011680"/>
          </a:xfrm>
          <a:prstGeom prst="rect">
            <a:avLst/>
          </a:prstGeom>
          <a:noFill/>
          <a:ln/>
        </p:spPr>
        <p:txBody>
          <a:bodyPr wrap="square" lIns="0" tIns="0" rIns="0" bIns="0" rtlCol="0" anchor="t"/>
          <a:lstStyle/>
          <a:p>
            <a:pPr marL="0" indent="0">
              <a:buNone/>
            </a:pPr>
            <a:r>
              <a:rPr lang="en-US" sz="2000" i="1" dirty="0">
                <a:solidFill>
                  <a:schemeClr val="tx1"/>
                </a:solidFill>
                <a:latin typeface="Cambria" pitchFamily="34" charset="0"/>
                <a:ea typeface="Cambria" pitchFamily="34" charset="-122"/>
                <a:cs typeface="Cambria" pitchFamily="34" charset="-120"/>
              </a:rPr>
              <a:t>Every fire station always knows who is on shift, so no one gives up on volunteering because of their schedule.</a:t>
            </a:r>
            <a:endParaRPr lang="en-US" sz="2000" dirty="0"/>
          </a:p>
        </p:txBody>
      </p:sp>
      <p:sp>
        <p:nvSpPr>
          <p:cNvPr id="8" name="Text 4"/>
          <p:cNvSpPr txBox="1"/>
          <p:nvPr/>
        </p:nvSpPr>
        <p:spPr>
          <a:xfrm>
            <a:off x="9006840" y="4114800"/>
            <a:ext cx="2636215"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BUSINESS GOALS</a:t>
            </a:r>
            <a:endParaRPr lang="en-US" sz="1200" dirty="0"/>
          </a:p>
        </p:txBody>
      </p:sp>
      <p:sp>
        <p:nvSpPr>
          <p:cNvPr id="9" name="Text 5"/>
          <p:cNvSpPr txBox="1"/>
          <p:nvPr/>
        </p:nvSpPr>
        <p:spPr>
          <a:xfrm>
            <a:off x="9006840" y="4480560"/>
            <a:ext cx="2636215"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2"/>
                </a:solidFill>
              </a:rPr>
              <a:t>Prove value at the pilot station</a:t>
            </a:r>
            <a:endParaRPr lang="en-US" sz="1400" dirty="0"/>
          </a:p>
          <a:p>
            <a:pPr marL="177800" indent="-177800">
              <a:spcAft>
                <a:spcPts val="500"/>
              </a:spcAft>
              <a:buSzPct val="100000"/>
              <a:buChar char="•"/>
            </a:pPr>
            <a:r>
              <a:rPr lang="en-US" sz="1400" dirty="0">
                <a:solidFill>
                  <a:schemeClr val="tx2"/>
                </a:solidFill>
              </a:rPr>
              <a:t>Recurring revenue from other brigades</a:t>
            </a:r>
            <a:endParaRPr lang="en-US" sz="1400" dirty="0"/>
          </a:p>
          <a:p>
            <a:pPr marL="177800" indent="-177800">
              <a:spcAft>
                <a:spcPts val="500"/>
              </a:spcAft>
              <a:buSzPct val="100000"/>
              <a:buChar char="•"/>
            </a:pPr>
            <a:r>
              <a:rPr lang="en-US" sz="1400" dirty="0">
                <a:solidFill>
                  <a:schemeClr val="tx2"/>
                </a:solidFill>
              </a:rPr>
              <a:t>Maintenance and custom features</a:t>
            </a:r>
            <a:endParaRPr lang="en-US" sz="1400" dirty="0"/>
          </a:p>
        </p:txBody>
      </p:sp>
      <p:sp>
        <p:nvSpPr>
          <p:cNvPr id="25"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Personas at a glance</a:t>
            </a:r>
            <a:endParaRPr lang="en-US" sz="3600" dirty="0"/>
          </a:p>
        </p:txBody>
      </p:sp>
      <p:sp>
        <p:nvSpPr>
          <p:cNvPr id="4" name="Text 1"/>
          <p:cNvSpPr txBox="1"/>
          <p:nvPr/>
        </p:nvSpPr>
        <p:spPr>
          <a:xfrm>
            <a:off x="731520" y="1280160"/>
            <a:ext cx="2514600" cy="274320"/>
          </a:xfrm>
          <a:prstGeom prst="rect">
            <a:avLst/>
          </a:prstGeom>
          <a:noFill/>
          <a:ln/>
        </p:spPr>
        <p:txBody>
          <a:bodyPr wrap="square" lIns="0" tIns="0" rIns="0" bIns="0" rtlCol="0" anchor="t"/>
          <a:lstStyle/>
          <a:p>
            <a:pPr marL="0" indent="0">
              <a:buNone/>
            </a:pPr>
            <a:r>
              <a:rPr lang="en-US" sz="1200" b="1" kern="0" spc="200" dirty="0">
                <a:solidFill>
                  <a:schemeClr val="tx2"/>
                </a:solidFill>
              </a:rPr>
              <a:t>PERSONA</a:t>
            </a:r>
            <a:endParaRPr lang="en-US" sz="1200" dirty="0"/>
          </a:p>
        </p:txBody>
      </p:sp>
      <p:sp>
        <p:nvSpPr>
          <p:cNvPr id="5" name="Text 2"/>
          <p:cNvSpPr txBox="1"/>
          <p:nvPr/>
        </p:nvSpPr>
        <p:spPr>
          <a:xfrm>
            <a:off x="3291840" y="1280160"/>
            <a:ext cx="4061308" cy="274320"/>
          </a:xfrm>
          <a:prstGeom prst="rect">
            <a:avLst/>
          </a:prstGeom>
          <a:noFill/>
          <a:ln/>
        </p:spPr>
        <p:txBody>
          <a:bodyPr wrap="square" lIns="0" tIns="0" rIns="0" bIns="0" rtlCol="0" anchor="t"/>
          <a:lstStyle/>
          <a:p>
            <a:pPr marL="0" indent="0">
              <a:buNone/>
            </a:pPr>
            <a:r>
              <a:rPr lang="en-US" sz="1200" b="1" kern="0" spc="200" dirty="0">
                <a:solidFill>
                  <a:schemeClr val="tx2"/>
                </a:solidFill>
              </a:rPr>
              <a:t>CURRENT PROBLEMS</a:t>
            </a:r>
            <a:endParaRPr lang="en-US" sz="1200" dirty="0"/>
          </a:p>
        </p:txBody>
      </p:sp>
      <p:sp>
        <p:nvSpPr>
          <p:cNvPr id="6" name="Text 3"/>
          <p:cNvSpPr txBox="1"/>
          <p:nvPr/>
        </p:nvSpPr>
        <p:spPr>
          <a:xfrm>
            <a:off x="7581748" y="1280160"/>
            <a:ext cx="4061308"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WANTS SOLVED</a:t>
            </a:r>
            <a:endParaRPr lang="en-US" sz="1200" dirty="0"/>
          </a:p>
        </p:txBody>
      </p:sp>
      <p:sp>
        <p:nvSpPr>
          <p:cNvPr id="7" name="Persona row Bernardino Santos"/>
          <p:cNvSpPr/>
          <p:nvPr/>
        </p:nvSpPr>
        <p:spPr>
          <a:xfrm>
            <a:off x="548640" y="1645920"/>
            <a:ext cx="11094415" cy="841248"/>
          </a:xfrm>
          <a:prstGeom prst="roundRect">
            <a:avLst>
              <a:gd name="adj" fmla="val 8696"/>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8" name="Avatar Bernardino Santos" descr="C:\Users\diogo\AppData\Local\Temp\claude\C--Users-diogo-Desktop-LABSOFT-LABDSOF-2627-1221137-1211439-1211514-1250505\51361c6d-1f23-4c3a-be2a-455eb909ff5f\scratchpad\deck\img\avatar-bernardino-santos.png"/>
          <p:cNvPicPr>
            <a:picLocks noChangeAspect="1"/>
          </p:cNvPicPr>
          <p:nvPr/>
        </p:nvPicPr>
        <p:blipFill>
          <a:blip r:embed="rId3"/>
          <a:stretch>
            <a:fillRect/>
          </a:stretch>
        </p:blipFill>
        <p:spPr>
          <a:xfrm>
            <a:off x="731520" y="1783080"/>
            <a:ext cx="566928" cy="566928"/>
          </a:xfrm>
          <a:prstGeom prst="rect">
            <a:avLst/>
          </a:prstGeom>
        </p:spPr>
      </p:pic>
      <p:sp>
        <p:nvSpPr>
          <p:cNvPr id="9" name="Text 5"/>
          <p:cNvSpPr txBox="1"/>
          <p:nvPr/>
        </p:nvSpPr>
        <p:spPr>
          <a:xfrm>
            <a:off x="1417320" y="1645920"/>
            <a:ext cx="1645920" cy="841248"/>
          </a:xfrm>
          <a:prstGeom prst="rect">
            <a:avLst/>
          </a:prstGeom>
          <a:noFill/>
          <a:ln/>
        </p:spPr>
        <p:txBody>
          <a:bodyPr wrap="square" lIns="0" tIns="0" rIns="0" bIns="0" rtlCol="0" anchor="ctr"/>
          <a:lstStyle/>
          <a:p>
            <a:pPr marL="0" indent="0">
              <a:buNone/>
            </a:pPr>
            <a:r>
              <a:rPr lang="en-US" sz="1400" b="1" dirty="0">
                <a:solidFill>
                  <a:schemeClr val="tx1"/>
                </a:solidFill>
              </a:rPr>
              <a:t>Bernardino Santos</a:t>
            </a:r>
            <a:endParaRPr lang="en-US" sz="1400" dirty="0"/>
          </a:p>
          <a:p>
            <a:pPr marL="0" indent="0">
              <a:buNone/>
            </a:pPr>
            <a:r>
              <a:rPr lang="en-US" sz="1200" dirty="0">
                <a:solidFill>
                  <a:schemeClr val="tx2"/>
                </a:solidFill>
              </a:rPr>
              <a:t>Supervisor, 59</a:t>
            </a:r>
            <a:endParaRPr lang="en-US" sz="1400" dirty="0"/>
          </a:p>
        </p:txBody>
      </p:sp>
      <p:sp>
        <p:nvSpPr>
          <p:cNvPr id="10" name="Text 6"/>
          <p:cNvSpPr txBox="1"/>
          <p:nvPr/>
        </p:nvSpPr>
        <p:spPr>
          <a:xfrm>
            <a:off x="3291840" y="1645920"/>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2"/>
                </a:solidFill>
              </a:rPr>
              <a:t>Every change means editing and reprinting the schedule</a:t>
            </a:r>
            <a:endParaRPr lang="en-US" sz="1200" dirty="0"/>
          </a:p>
          <a:p>
            <a:pPr marL="152400" indent="-152400">
              <a:buSzPct val="100000"/>
              <a:buChar char="•"/>
            </a:pPr>
            <a:r>
              <a:rPr lang="en-US" sz="1200" dirty="0">
                <a:solidFill>
                  <a:schemeClr val="tx2"/>
                </a:solidFill>
              </a:rPr>
              <a:t>Changes and extensions made after he leaves get lost</a:t>
            </a:r>
            <a:endParaRPr lang="en-US" sz="1200" dirty="0"/>
          </a:p>
          <a:p>
            <a:pPr marL="152400" indent="-152400">
              <a:buSzPct val="100000"/>
              <a:buChar char="•"/>
            </a:pPr>
            <a:r>
              <a:rPr lang="en-US" sz="1200" dirty="0">
                <a:solidFill>
                  <a:schemeClr val="tx2"/>
                </a:solidFill>
              </a:rPr>
              <a:t>Tracks minimum hours and weekly limits by hand</a:t>
            </a:r>
            <a:endParaRPr lang="en-US" sz="1200" dirty="0"/>
          </a:p>
        </p:txBody>
      </p:sp>
      <p:sp>
        <p:nvSpPr>
          <p:cNvPr id="11" name="Text 7"/>
          <p:cNvSpPr txBox="1"/>
          <p:nvPr/>
        </p:nvSpPr>
        <p:spPr>
          <a:xfrm>
            <a:off x="7581748" y="1645920"/>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1"/>
                </a:solidFill>
              </a:rPr>
              <a:t>See availability, hours left and weekly limits</a:t>
            </a:r>
            <a:endParaRPr lang="en-US" sz="1200" dirty="0"/>
          </a:p>
          <a:p>
            <a:pPr marL="152400" indent="-152400">
              <a:buSzPct val="100000"/>
              <a:buChar char="•"/>
            </a:pPr>
            <a:r>
              <a:rPr lang="en-US" sz="1200" dirty="0">
                <a:solidFill>
                  <a:schemeClr val="tx1"/>
                </a:solidFill>
              </a:rPr>
              <a:t>Update the schedule without reprinting it</a:t>
            </a:r>
            <a:endParaRPr lang="en-US" sz="1200" dirty="0"/>
          </a:p>
          <a:p>
            <a:pPr marL="152400" indent="-152400">
              <a:buSzPct val="100000"/>
              <a:buChar char="•"/>
            </a:pPr>
            <a:r>
              <a:rPr lang="en-US" sz="1200" dirty="0">
                <a:solidFill>
                  <a:schemeClr val="tx1"/>
                </a:solidFill>
              </a:rPr>
              <a:t>Review and approve extensions registered in the app</a:t>
            </a:r>
            <a:endParaRPr lang="en-US" sz="1200" dirty="0"/>
          </a:p>
        </p:txBody>
      </p:sp>
      <p:sp>
        <p:nvSpPr>
          <p:cNvPr id="12" name="Persona row Rui Carvalho"/>
          <p:cNvSpPr/>
          <p:nvPr/>
        </p:nvSpPr>
        <p:spPr>
          <a:xfrm>
            <a:off x="548640" y="2578608"/>
            <a:ext cx="11094415" cy="841248"/>
          </a:xfrm>
          <a:prstGeom prst="roundRect">
            <a:avLst>
              <a:gd name="adj" fmla="val 8696"/>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13" name="Avatar Rui Carvalho" descr="C:\Users\diogo\AppData\Local\Temp\claude\C--Users-diogo-Desktop-LABSOFT-LABDSOF-2627-1221137-1211439-1211514-1250505\51361c6d-1f23-4c3a-be2a-455eb909ff5f\scratchpad\deck\img\avatar-rui-carvalho.png"/>
          <p:cNvPicPr>
            <a:picLocks noChangeAspect="1"/>
          </p:cNvPicPr>
          <p:nvPr/>
        </p:nvPicPr>
        <p:blipFill>
          <a:blip r:embed="rId4"/>
          <a:stretch>
            <a:fillRect/>
          </a:stretch>
        </p:blipFill>
        <p:spPr>
          <a:xfrm>
            <a:off x="731520" y="2715768"/>
            <a:ext cx="566928" cy="566928"/>
          </a:xfrm>
          <a:prstGeom prst="rect">
            <a:avLst/>
          </a:prstGeom>
        </p:spPr>
      </p:pic>
      <p:sp>
        <p:nvSpPr>
          <p:cNvPr id="14" name="Text 9"/>
          <p:cNvSpPr txBox="1"/>
          <p:nvPr/>
        </p:nvSpPr>
        <p:spPr>
          <a:xfrm>
            <a:off x="1417320" y="2578608"/>
            <a:ext cx="1645920" cy="841248"/>
          </a:xfrm>
          <a:prstGeom prst="rect">
            <a:avLst/>
          </a:prstGeom>
          <a:noFill/>
          <a:ln/>
        </p:spPr>
        <p:txBody>
          <a:bodyPr wrap="square" lIns="0" tIns="0" rIns="0" bIns="0" rtlCol="0" anchor="ctr"/>
          <a:lstStyle/>
          <a:p>
            <a:pPr marL="0" indent="0">
              <a:buNone/>
            </a:pPr>
            <a:r>
              <a:rPr lang="en-US" sz="1400" b="1" dirty="0">
                <a:solidFill>
                  <a:schemeClr val="tx1"/>
                </a:solidFill>
              </a:rPr>
              <a:t>Rui Carvalho</a:t>
            </a:r>
            <a:endParaRPr lang="en-US" sz="1400" dirty="0"/>
          </a:p>
          <a:p>
            <a:pPr marL="0" indent="0">
              <a:buNone/>
            </a:pPr>
            <a:r>
              <a:rPr lang="en-US" sz="1200" dirty="0">
                <a:solidFill>
                  <a:schemeClr val="tx2"/>
                </a:solidFill>
              </a:rPr>
              <a:t>Station chief, 52</a:t>
            </a:r>
            <a:endParaRPr lang="en-US" sz="1400" dirty="0"/>
          </a:p>
        </p:txBody>
      </p:sp>
      <p:sp>
        <p:nvSpPr>
          <p:cNvPr id="15" name="Text 10"/>
          <p:cNvSpPr txBox="1"/>
          <p:nvPr/>
        </p:nvSpPr>
        <p:spPr>
          <a:xfrm>
            <a:off x="3291840" y="2578608"/>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2"/>
                </a:solidFill>
              </a:rPr>
              <a:t>Hard to find times when enough people can train</a:t>
            </a:r>
            <a:endParaRPr lang="en-US" sz="1200" dirty="0"/>
          </a:p>
          <a:p>
            <a:pPr marL="152400" indent="-152400">
              <a:buSzPct val="100000"/>
              <a:buChar char="•"/>
            </a:pPr>
            <a:r>
              <a:rPr lang="en-US" sz="1200" dirty="0">
                <a:solidFill>
                  <a:schemeClr val="tx2"/>
                </a:solidFill>
              </a:rPr>
              <a:t>No quick overview of who is on shift</a:t>
            </a:r>
            <a:endParaRPr lang="en-US" sz="1200" dirty="0"/>
          </a:p>
          <a:p>
            <a:pPr marL="152400" indent="-152400">
              <a:buSzPct val="100000"/>
              <a:buChar char="•"/>
            </a:pPr>
            <a:r>
              <a:rPr lang="en-US" sz="1200" dirty="0">
                <a:solidFill>
                  <a:schemeClr val="tx2"/>
                </a:solidFill>
              </a:rPr>
              <a:t>Couldn't learn Google Calendar or Notion</a:t>
            </a:r>
            <a:endParaRPr lang="en-US" sz="1200" dirty="0"/>
          </a:p>
        </p:txBody>
      </p:sp>
      <p:sp>
        <p:nvSpPr>
          <p:cNvPr id="16" name="Text 11"/>
          <p:cNvSpPr txBox="1"/>
          <p:nvPr/>
        </p:nvSpPr>
        <p:spPr>
          <a:xfrm>
            <a:off x="7581748" y="2578608"/>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1"/>
                </a:solidFill>
              </a:rPr>
              <a:t>Fewer volunteers and cadets quitting</a:t>
            </a:r>
            <a:endParaRPr lang="en-US" sz="1200" dirty="0"/>
          </a:p>
          <a:p>
            <a:pPr marL="152400" indent="-152400">
              <a:buSzPct val="100000"/>
              <a:buChar char="•"/>
            </a:pPr>
            <a:r>
              <a:rPr lang="en-US" sz="1200" dirty="0">
                <a:solidFill>
                  <a:schemeClr val="tx1"/>
                </a:solidFill>
              </a:rPr>
              <a:t>See at a glance who is on shift and available</a:t>
            </a:r>
            <a:endParaRPr lang="en-US" sz="1200" dirty="0"/>
          </a:p>
          <a:p>
            <a:pPr marL="152400" indent="-152400">
              <a:buSzPct val="100000"/>
              <a:buChar char="•"/>
            </a:pPr>
            <a:r>
              <a:rPr lang="en-US" sz="1200" dirty="0">
                <a:solidFill>
                  <a:schemeClr val="tx1"/>
                </a:solidFill>
              </a:rPr>
              <a:t>Plan training around known availability</a:t>
            </a:r>
            <a:endParaRPr lang="en-US" sz="1200" dirty="0"/>
          </a:p>
        </p:txBody>
      </p:sp>
      <p:sp>
        <p:nvSpPr>
          <p:cNvPr id="17" name="Persona row Pedro Pacheco"/>
          <p:cNvSpPr/>
          <p:nvPr/>
        </p:nvSpPr>
        <p:spPr>
          <a:xfrm>
            <a:off x="548640" y="3511296"/>
            <a:ext cx="11094415" cy="841248"/>
          </a:xfrm>
          <a:prstGeom prst="roundRect">
            <a:avLst>
              <a:gd name="adj" fmla="val 8696"/>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18" name="Avatar Pedro Pacheco" descr="C:\Users\diogo\AppData\Local\Temp\claude\C--Users-diogo-Desktop-LABSOFT-LABDSOF-2627-1221137-1211439-1211514-1250505\51361c6d-1f23-4c3a-be2a-455eb909ff5f\scratchpad\deck\img\avatar-pedro-pacheco.png"/>
          <p:cNvPicPr>
            <a:picLocks noChangeAspect="1"/>
          </p:cNvPicPr>
          <p:nvPr/>
        </p:nvPicPr>
        <p:blipFill>
          <a:blip r:embed="rId5"/>
          <a:stretch>
            <a:fillRect/>
          </a:stretch>
        </p:blipFill>
        <p:spPr>
          <a:xfrm>
            <a:off x="731520" y="3648456"/>
            <a:ext cx="566928" cy="566928"/>
          </a:xfrm>
          <a:prstGeom prst="rect">
            <a:avLst/>
          </a:prstGeom>
        </p:spPr>
      </p:pic>
      <p:sp>
        <p:nvSpPr>
          <p:cNvPr id="19" name="Text 13"/>
          <p:cNvSpPr txBox="1"/>
          <p:nvPr/>
        </p:nvSpPr>
        <p:spPr>
          <a:xfrm>
            <a:off x="1417320" y="3511296"/>
            <a:ext cx="1645920" cy="841248"/>
          </a:xfrm>
          <a:prstGeom prst="rect">
            <a:avLst/>
          </a:prstGeom>
          <a:noFill/>
          <a:ln/>
        </p:spPr>
        <p:txBody>
          <a:bodyPr wrap="square" lIns="0" tIns="0" rIns="0" bIns="0" rtlCol="0" anchor="ctr"/>
          <a:lstStyle/>
          <a:p>
            <a:pPr marL="0" indent="0">
              <a:buNone/>
            </a:pPr>
            <a:r>
              <a:rPr lang="en-US" sz="1400" b="1" dirty="0">
                <a:solidFill>
                  <a:schemeClr val="tx1"/>
                </a:solidFill>
              </a:rPr>
              <a:t>Pedro Pacheco</a:t>
            </a:r>
            <a:endParaRPr lang="en-US" sz="1400" dirty="0"/>
          </a:p>
          <a:p>
            <a:pPr marL="0" indent="0">
              <a:buNone/>
            </a:pPr>
            <a:r>
              <a:rPr lang="en-US" sz="1200" dirty="0">
                <a:solidFill>
                  <a:schemeClr val="tx2"/>
                </a:solidFill>
              </a:rPr>
              <a:t>Professional firefighter, 31</a:t>
            </a:r>
            <a:endParaRPr lang="en-US" sz="1400" dirty="0"/>
          </a:p>
        </p:txBody>
      </p:sp>
      <p:sp>
        <p:nvSpPr>
          <p:cNvPr id="20" name="Text 14"/>
          <p:cNvSpPr txBox="1"/>
          <p:nvPr/>
        </p:nvSpPr>
        <p:spPr>
          <a:xfrm>
            <a:off x="3291840" y="3511296"/>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2"/>
                </a:solidFill>
              </a:rPr>
              <a:t>Extra hours are hard to report and often go missing</a:t>
            </a:r>
            <a:endParaRPr lang="en-US" sz="1200" dirty="0"/>
          </a:p>
          <a:p>
            <a:pPr marL="152400" indent="-152400">
              <a:buSzPct val="100000"/>
              <a:buChar char="•"/>
            </a:pPr>
            <a:r>
              <a:rPr lang="en-US" sz="1200" dirty="0">
                <a:solidFill>
                  <a:schemeClr val="tx2"/>
                </a:solidFill>
              </a:rPr>
              <a:t>Only learns his day off on Monday, at the station</a:t>
            </a:r>
            <a:endParaRPr lang="en-US" sz="1200" dirty="0"/>
          </a:p>
          <a:p>
            <a:pPr marL="152400" indent="-152400">
              <a:buSzPct val="100000"/>
              <a:buChar char="•"/>
            </a:pPr>
            <a:r>
              <a:rPr lang="en-US" sz="1200" dirty="0">
                <a:solidFill>
                  <a:schemeClr val="tx2"/>
                </a:solidFill>
              </a:rPr>
              <a:t>Confirming a swap means the station or WhatsApp</a:t>
            </a:r>
            <a:endParaRPr lang="en-US" sz="1200" dirty="0"/>
          </a:p>
        </p:txBody>
      </p:sp>
      <p:sp>
        <p:nvSpPr>
          <p:cNvPr id="21" name="Text 15"/>
          <p:cNvSpPr txBox="1"/>
          <p:nvPr/>
        </p:nvSpPr>
        <p:spPr>
          <a:xfrm>
            <a:off x="7581748" y="3511296"/>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1"/>
                </a:solidFill>
              </a:rPr>
              <a:t>Register every extra hour himself</a:t>
            </a:r>
            <a:endParaRPr lang="en-US" sz="1200" dirty="0"/>
          </a:p>
          <a:p>
            <a:pPr marL="152400" indent="-152400">
              <a:buSzPct val="100000"/>
              <a:buChar char="•"/>
            </a:pPr>
            <a:r>
              <a:rPr lang="en-US" sz="1200" dirty="0">
                <a:solidFill>
                  <a:schemeClr val="tx1"/>
                </a:solidFill>
              </a:rPr>
              <a:t>Know his schedule and day off in advance</a:t>
            </a:r>
            <a:endParaRPr lang="en-US" sz="1200" dirty="0"/>
          </a:p>
          <a:p>
            <a:pPr marL="152400" indent="-152400">
              <a:buSzPct val="100000"/>
              <a:buChar char="•"/>
            </a:pPr>
            <a:r>
              <a:rPr lang="en-US" sz="1200" dirty="0">
                <a:solidFill>
                  <a:schemeClr val="tx1"/>
                </a:solidFill>
              </a:rPr>
              <a:t>Check schedules on his phone when asked to swap</a:t>
            </a:r>
            <a:endParaRPr lang="en-US" sz="1200" dirty="0"/>
          </a:p>
        </p:txBody>
      </p:sp>
      <p:sp>
        <p:nvSpPr>
          <p:cNvPr id="22" name="Persona row Diogo Ribeiro"/>
          <p:cNvSpPr/>
          <p:nvPr/>
        </p:nvSpPr>
        <p:spPr>
          <a:xfrm>
            <a:off x="548640" y="4443984"/>
            <a:ext cx="11094415" cy="841248"/>
          </a:xfrm>
          <a:prstGeom prst="roundRect">
            <a:avLst>
              <a:gd name="adj" fmla="val 8696"/>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23" name="Avatar Diogo Ribeiro" descr="C:\Users\diogo\AppData\Local\Temp\claude\C--Users-diogo-Desktop-LABSOFT-LABDSOF-2627-1221137-1211439-1211514-1250505\51361c6d-1f23-4c3a-be2a-455eb909ff5f\scratchpad\deck\img\avatar-diogo-ribeiro.png"/>
          <p:cNvPicPr>
            <a:picLocks noChangeAspect="1"/>
          </p:cNvPicPr>
          <p:nvPr/>
        </p:nvPicPr>
        <p:blipFill>
          <a:blip r:embed="rId6"/>
          <a:stretch>
            <a:fillRect/>
          </a:stretch>
        </p:blipFill>
        <p:spPr>
          <a:xfrm>
            <a:off x="731520" y="4581144"/>
            <a:ext cx="566928" cy="566928"/>
          </a:xfrm>
          <a:prstGeom prst="rect">
            <a:avLst/>
          </a:prstGeom>
        </p:spPr>
      </p:pic>
      <p:sp>
        <p:nvSpPr>
          <p:cNvPr id="24" name="Text 17"/>
          <p:cNvSpPr txBox="1"/>
          <p:nvPr/>
        </p:nvSpPr>
        <p:spPr>
          <a:xfrm>
            <a:off x="1417320" y="4443984"/>
            <a:ext cx="1645920" cy="841248"/>
          </a:xfrm>
          <a:prstGeom prst="rect">
            <a:avLst/>
          </a:prstGeom>
          <a:noFill/>
          <a:ln/>
        </p:spPr>
        <p:txBody>
          <a:bodyPr wrap="square" lIns="0" tIns="0" rIns="0" bIns="0" rtlCol="0" anchor="ctr"/>
          <a:lstStyle/>
          <a:p>
            <a:pPr marL="0" indent="0">
              <a:buNone/>
            </a:pPr>
            <a:r>
              <a:rPr lang="en-US" sz="1400" b="1" dirty="0">
                <a:solidFill>
                  <a:schemeClr val="tx1"/>
                </a:solidFill>
              </a:rPr>
              <a:t>Diogo Ribeiro</a:t>
            </a:r>
            <a:endParaRPr lang="en-US" sz="1400" dirty="0"/>
          </a:p>
          <a:p>
            <a:pPr marL="0" indent="0">
              <a:buNone/>
            </a:pPr>
            <a:r>
              <a:rPr lang="en-US" sz="1200" dirty="0">
                <a:solidFill>
                  <a:schemeClr val="tx2"/>
                </a:solidFill>
              </a:rPr>
              <a:t>Volunteer, 23</a:t>
            </a:r>
            <a:endParaRPr lang="en-US" sz="1400" dirty="0"/>
          </a:p>
        </p:txBody>
      </p:sp>
      <p:sp>
        <p:nvSpPr>
          <p:cNvPr id="25" name="Text 18"/>
          <p:cNvSpPr txBox="1"/>
          <p:nvPr/>
        </p:nvSpPr>
        <p:spPr>
          <a:xfrm>
            <a:off x="3291840" y="4443984"/>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2"/>
                </a:solidFill>
              </a:rPr>
              <a:t>Depends on WhatsApp to know about changes</a:t>
            </a:r>
            <a:endParaRPr lang="en-US" sz="1200" dirty="0"/>
          </a:p>
          <a:p>
            <a:pPr marL="152400" indent="-152400">
              <a:buSzPct val="100000"/>
              <a:buChar char="•"/>
            </a:pPr>
            <a:r>
              <a:rPr lang="en-US" sz="1200" dirty="0">
                <a:solidFill>
                  <a:schemeClr val="tx2"/>
                </a:solidFill>
              </a:rPr>
              <a:t>Misses updates that are never posted</a:t>
            </a:r>
            <a:endParaRPr lang="en-US" sz="1200" dirty="0"/>
          </a:p>
          <a:p>
            <a:pPr marL="152400" indent="-152400">
              <a:buSzPct val="100000"/>
              <a:buChar char="•"/>
            </a:pPr>
            <a:r>
              <a:rPr lang="en-US" sz="1200" dirty="0">
                <a:solidFill>
                  <a:schemeClr val="tx2"/>
                </a:solidFill>
              </a:rPr>
              <a:t>Station shifts clash with his Red Cross Sundays</a:t>
            </a:r>
            <a:endParaRPr lang="en-US" sz="1200" dirty="0"/>
          </a:p>
        </p:txBody>
      </p:sp>
      <p:sp>
        <p:nvSpPr>
          <p:cNvPr id="26" name="Text 19"/>
          <p:cNvSpPr txBox="1"/>
          <p:nvPr/>
        </p:nvSpPr>
        <p:spPr>
          <a:xfrm>
            <a:off x="7581748" y="4443984"/>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1"/>
                </a:solidFill>
              </a:rPr>
              <a:t>Know his schedule at any moment, on his phone</a:t>
            </a:r>
            <a:endParaRPr lang="en-US" sz="1200" dirty="0"/>
          </a:p>
          <a:p>
            <a:pPr marL="152400" indent="-152400">
              <a:buSzPct val="100000"/>
              <a:buChar char="•"/>
            </a:pPr>
            <a:r>
              <a:rPr lang="en-US" sz="1200" dirty="0">
                <a:solidFill>
                  <a:schemeClr val="tx1"/>
                </a:solidFill>
              </a:rPr>
              <a:t>Set availability around his job and Red Cross shifts</a:t>
            </a:r>
            <a:endParaRPr lang="en-US" sz="1200" dirty="0"/>
          </a:p>
          <a:p>
            <a:pPr marL="152400" indent="-152400">
              <a:buSzPct val="100000"/>
              <a:buChar char="•"/>
            </a:pPr>
            <a:r>
              <a:rPr lang="en-US" sz="1200" dirty="0">
                <a:solidFill>
                  <a:schemeClr val="tx1"/>
                </a:solidFill>
              </a:rPr>
              <a:t>Swap shifts and see the update straight away</a:t>
            </a:r>
            <a:endParaRPr lang="en-US" sz="1200" dirty="0"/>
          </a:p>
        </p:txBody>
      </p:sp>
      <p:sp>
        <p:nvSpPr>
          <p:cNvPr id="27" name="Persona row Rita Machado"/>
          <p:cNvSpPr/>
          <p:nvPr/>
        </p:nvSpPr>
        <p:spPr>
          <a:xfrm>
            <a:off x="548640" y="5376672"/>
            <a:ext cx="11094415" cy="841248"/>
          </a:xfrm>
          <a:prstGeom prst="roundRect">
            <a:avLst>
              <a:gd name="adj" fmla="val 8696"/>
            </a:avLst>
          </a:prstGeom>
          <a:solidFill>
            <a:schemeClr val="bg1"/>
          </a:solidFill>
          <a:ln/>
          <a:effectLst>
            <a:outerShdw blurRad="127000" dist="25400" dir="5400000" algn="bl" rotWithShape="0">
              <a:srgbClr val="1E2533">
                <a:alpha val="10000"/>
              </a:srgbClr>
            </a:outerShdw>
          </a:effectLst>
        </p:spPr>
        <p:txBody>
          <a:bodyPr/>
          <a:lstStyle/>
          <a:p>
            <a:endParaRPr lang="pt-PT"/>
          </a:p>
        </p:txBody>
      </p:sp>
      <p:pic>
        <p:nvPicPr>
          <p:cNvPr id="28" name="Avatar Rita Machado" descr="C:\Users\diogo\AppData\Local\Temp\claude\C--Users-diogo-Desktop-LABSOFT-LABDSOF-2627-1221137-1211439-1211514-1250505\51361c6d-1f23-4c3a-be2a-455eb909ff5f\scratchpad\deck\img\avatar-rita-machado.png"/>
          <p:cNvPicPr>
            <a:picLocks noChangeAspect="1"/>
          </p:cNvPicPr>
          <p:nvPr/>
        </p:nvPicPr>
        <p:blipFill>
          <a:blip r:embed="rId7"/>
          <a:stretch>
            <a:fillRect/>
          </a:stretch>
        </p:blipFill>
        <p:spPr>
          <a:xfrm>
            <a:off x="731520" y="5513832"/>
            <a:ext cx="566928" cy="566928"/>
          </a:xfrm>
          <a:prstGeom prst="rect">
            <a:avLst/>
          </a:prstGeom>
        </p:spPr>
      </p:pic>
      <p:sp>
        <p:nvSpPr>
          <p:cNvPr id="29" name="Text 21"/>
          <p:cNvSpPr txBox="1"/>
          <p:nvPr/>
        </p:nvSpPr>
        <p:spPr>
          <a:xfrm>
            <a:off x="1417320" y="5376672"/>
            <a:ext cx="1645920" cy="841248"/>
          </a:xfrm>
          <a:prstGeom prst="rect">
            <a:avLst/>
          </a:prstGeom>
          <a:noFill/>
          <a:ln/>
        </p:spPr>
        <p:txBody>
          <a:bodyPr wrap="square" lIns="0" tIns="0" rIns="0" bIns="0" rtlCol="0" anchor="ctr"/>
          <a:lstStyle/>
          <a:p>
            <a:pPr marL="0" indent="0">
              <a:buNone/>
            </a:pPr>
            <a:r>
              <a:rPr lang="en-US" sz="1400" b="1" dirty="0">
                <a:solidFill>
                  <a:schemeClr val="tx1"/>
                </a:solidFill>
              </a:rPr>
              <a:t>Rita Machado</a:t>
            </a:r>
            <a:endParaRPr lang="en-US" sz="1400" dirty="0"/>
          </a:p>
          <a:p>
            <a:pPr marL="0" indent="0">
              <a:buNone/>
            </a:pPr>
            <a:r>
              <a:rPr lang="en-US" sz="1200" dirty="0">
                <a:solidFill>
                  <a:schemeClr val="tx2"/>
                </a:solidFill>
              </a:rPr>
              <a:t>Former volunteer, 25</a:t>
            </a:r>
            <a:endParaRPr lang="en-US" sz="1400" dirty="0"/>
          </a:p>
        </p:txBody>
      </p:sp>
      <p:sp>
        <p:nvSpPr>
          <p:cNvPr id="30" name="Text 22"/>
          <p:cNvSpPr txBox="1"/>
          <p:nvPr/>
        </p:nvSpPr>
        <p:spPr>
          <a:xfrm>
            <a:off x="3291840" y="5376672"/>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2"/>
                </a:solidFill>
              </a:rPr>
              <a:t>Irregular ICU shifts with frequent changes</a:t>
            </a:r>
            <a:endParaRPr lang="en-US" sz="1200" dirty="0"/>
          </a:p>
          <a:p>
            <a:pPr marL="152400" indent="-152400">
              <a:buSzPct val="100000"/>
              <a:buChar char="•"/>
            </a:pPr>
            <a:r>
              <a:rPr lang="en-US" sz="1200" dirty="0">
                <a:solidFill>
                  <a:schemeClr val="tx2"/>
                </a:solidFill>
              </a:rPr>
              <a:t>Relied on colleagues to report her swaps</a:t>
            </a:r>
            <a:endParaRPr lang="en-US" sz="1200" dirty="0"/>
          </a:p>
          <a:p>
            <a:pPr marL="152400" indent="-152400">
              <a:buSzPct val="100000"/>
              <a:buChar char="•"/>
            </a:pPr>
            <a:r>
              <a:rPr lang="en-US" sz="1200" dirty="0">
                <a:solidFill>
                  <a:schemeClr val="tx2"/>
                </a:solidFill>
              </a:rPr>
              <a:t>Was scheduled on top of her ICU shifts</a:t>
            </a:r>
            <a:endParaRPr lang="en-US" sz="1200" dirty="0"/>
          </a:p>
        </p:txBody>
      </p:sp>
      <p:sp>
        <p:nvSpPr>
          <p:cNvPr id="31" name="Text 23"/>
          <p:cNvSpPr txBox="1"/>
          <p:nvPr/>
        </p:nvSpPr>
        <p:spPr>
          <a:xfrm>
            <a:off x="7581748" y="5376672"/>
            <a:ext cx="4061308" cy="841248"/>
          </a:xfrm>
          <a:prstGeom prst="rect">
            <a:avLst/>
          </a:prstGeom>
          <a:noFill/>
          <a:ln/>
        </p:spPr>
        <p:txBody>
          <a:bodyPr wrap="square" lIns="0" tIns="0" rIns="0" bIns="0" rtlCol="0" anchor="ctr"/>
          <a:lstStyle/>
          <a:p>
            <a:pPr marL="152400" indent="-152400">
              <a:buSzPct val="100000"/>
              <a:buChar char="•"/>
            </a:pPr>
            <a:r>
              <a:rPr lang="en-US" sz="1200" dirty="0">
                <a:solidFill>
                  <a:schemeClr val="tx1"/>
                </a:solidFill>
              </a:rPr>
              <a:t>Mark when she isn't available, and update it easily</a:t>
            </a:r>
            <a:endParaRPr lang="en-US" sz="1200" dirty="0"/>
          </a:p>
          <a:p>
            <a:pPr marL="152400" indent="-152400">
              <a:buSzPct val="100000"/>
              <a:buChar char="•"/>
            </a:pPr>
            <a:r>
              <a:rPr lang="en-US" sz="1200" dirty="0">
                <a:solidFill>
                  <a:schemeClr val="tx1"/>
                </a:solidFill>
              </a:rPr>
              <a:t>Request swaps from her phone and see them confirmed</a:t>
            </a:r>
            <a:endParaRPr lang="en-US" sz="1200" dirty="0"/>
          </a:p>
        </p:txBody>
      </p:sp>
      <p:sp>
        <p:nvSpPr>
          <p:cNvPr id="3"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Three things Escala cannot get wrong</a:t>
            </a:r>
            <a:endParaRPr lang="en-US" sz="3600" dirty="0"/>
          </a:p>
        </p:txBody>
      </p:sp>
      <p:sp>
        <p:nvSpPr>
          <p:cNvPr id="4" name="Essential Usable from the first use"/>
          <p:cNvSpPr/>
          <p:nvPr/>
        </p:nvSpPr>
        <p:spPr>
          <a:xfrm>
            <a:off x="548640" y="1417320"/>
            <a:ext cx="3515258" cy="3429000"/>
          </a:xfrm>
          <a:prstGeom prst="roundRect">
            <a:avLst>
              <a:gd name="adj" fmla="val 2133"/>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5" name="Text 2"/>
          <p:cNvSpPr txBox="1"/>
          <p:nvPr/>
        </p:nvSpPr>
        <p:spPr>
          <a:xfrm>
            <a:off x="868680" y="1691640"/>
            <a:ext cx="1371600" cy="82296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01</a:t>
            </a:r>
            <a:endParaRPr lang="en-US" sz="5400" dirty="0"/>
          </a:p>
        </p:txBody>
      </p:sp>
      <p:sp>
        <p:nvSpPr>
          <p:cNvPr id="6" name="Essential 1 circle"/>
          <p:cNvSpPr/>
          <p:nvPr/>
        </p:nvSpPr>
        <p:spPr>
          <a:xfrm>
            <a:off x="3012338" y="1737360"/>
            <a:ext cx="731520" cy="731520"/>
          </a:xfrm>
          <a:prstGeom prst="ellipse">
            <a:avLst/>
          </a:prstGeom>
          <a:solidFill>
            <a:schemeClr val="tx1"/>
          </a:solidFill>
          <a:ln/>
        </p:spPr>
        <p:txBody>
          <a:bodyPr/>
          <a:lstStyle/>
          <a:p>
            <a:endParaRPr lang="pt-PT"/>
          </a:p>
        </p:txBody>
      </p:sp>
      <p:pic>
        <p:nvPicPr>
          <p:cNvPr id="7" name="Essential 1 icon" descr="preencoded.png"/>
          <p:cNvPicPr>
            <a:picLocks noChangeAspect="1"/>
          </p:cNvPicPr>
          <p:nvPr/>
        </p:nvPicPr>
        <p:blipFill>
          <a:blip r:embed="rId3"/>
          <a:stretch>
            <a:fillRect/>
          </a:stretch>
        </p:blipFill>
        <p:spPr>
          <a:xfrm>
            <a:off x="3195218" y="1920240"/>
            <a:ext cx="365760" cy="365760"/>
          </a:xfrm>
          <a:prstGeom prst="rect">
            <a:avLst/>
          </a:prstGeom>
        </p:spPr>
      </p:pic>
      <p:sp>
        <p:nvSpPr>
          <p:cNvPr id="8" name="Text 4"/>
          <p:cNvSpPr txBox="1"/>
          <p:nvPr/>
        </p:nvSpPr>
        <p:spPr>
          <a:xfrm>
            <a:off x="868680" y="2788920"/>
            <a:ext cx="2875178" cy="457200"/>
          </a:xfrm>
          <a:prstGeom prst="rect">
            <a:avLst/>
          </a:prstGeom>
          <a:noFill/>
          <a:ln/>
        </p:spPr>
        <p:txBody>
          <a:bodyPr wrap="square" lIns="0" tIns="0" rIns="0" bIns="0" rtlCol="0" anchor="t"/>
          <a:lstStyle/>
          <a:p>
            <a:pPr marL="0" indent="0">
              <a:buNone/>
            </a:pPr>
            <a:r>
              <a:rPr lang="en-US" sz="2000" b="1" dirty="0">
                <a:solidFill>
                  <a:schemeClr val="tx1"/>
                </a:solidFill>
              </a:rPr>
              <a:t>Usable from the first use</a:t>
            </a:r>
            <a:endParaRPr lang="en-US" sz="2000" dirty="0"/>
          </a:p>
        </p:txBody>
      </p:sp>
      <p:sp>
        <p:nvSpPr>
          <p:cNvPr id="9" name="Text 5"/>
          <p:cNvSpPr txBox="1"/>
          <p:nvPr/>
        </p:nvSpPr>
        <p:spPr>
          <a:xfrm>
            <a:off x="868680" y="3337560"/>
            <a:ext cx="2875178" cy="13716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2"/>
                </a:solidFill>
              </a:rPr>
              <a:t>Senior members must adapt quickly</a:t>
            </a:r>
            <a:endParaRPr lang="en-US" sz="1500" dirty="0"/>
          </a:p>
          <a:p>
            <a:pPr marL="177800" indent="-177800">
              <a:spcAft>
                <a:spcPts val="500"/>
              </a:spcAft>
              <a:buSzPct val="100000"/>
              <a:buChar char="•"/>
            </a:pPr>
            <a:r>
              <a:rPr lang="en-US" sz="1500" dirty="0">
                <a:solidFill>
                  <a:schemeClr val="tx2"/>
                </a:solidFill>
              </a:rPr>
              <a:t>Simple screens, large buttons, few steps, in Portuguese</a:t>
            </a:r>
            <a:endParaRPr lang="en-US" sz="1500" dirty="0"/>
          </a:p>
          <a:p>
            <a:pPr marL="177800" indent="-177800">
              <a:spcAft>
                <a:spcPts val="500"/>
              </a:spcAft>
              <a:buSzPct val="100000"/>
              <a:buChar char="•"/>
            </a:pPr>
            <a:r>
              <a:rPr lang="en-US" sz="1500" dirty="0">
                <a:solidFill>
                  <a:schemeClr val="tx2"/>
                </a:solidFill>
              </a:rPr>
              <a:t>No training needed</a:t>
            </a:r>
            <a:endParaRPr lang="en-US" sz="1500" dirty="0"/>
          </a:p>
        </p:txBody>
      </p:sp>
      <p:sp>
        <p:nvSpPr>
          <p:cNvPr id="10" name="Essential One central schedule"/>
          <p:cNvSpPr/>
          <p:nvPr/>
        </p:nvSpPr>
        <p:spPr>
          <a:xfrm>
            <a:off x="4338218" y="1417320"/>
            <a:ext cx="3515258" cy="3429000"/>
          </a:xfrm>
          <a:prstGeom prst="roundRect">
            <a:avLst>
              <a:gd name="adj" fmla="val 2133"/>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1" name="Text 7"/>
          <p:cNvSpPr txBox="1"/>
          <p:nvPr/>
        </p:nvSpPr>
        <p:spPr>
          <a:xfrm>
            <a:off x="4658258" y="1691640"/>
            <a:ext cx="1371600" cy="82296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02</a:t>
            </a:r>
            <a:endParaRPr lang="en-US" sz="5400" dirty="0"/>
          </a:p>
        </p:txBody>
      </p:sp>
      <p:sp>
        <p:nvSpPr>
          <p:cNvPr id="12" name="Essential 2 circle"/>
          <p:cNvSpPr/>
          <p:nvPr/>
        </p:nvSpPr>
        <p:spPr>
          <a:xfrm>
            <a:off x="6801917" y="1737360"/>
            <a:ext cx="731520" cy="731520"/>
          </a:xfrm>
          <a:prstGeom prst="ellipse">
            <a:avLst/>
          </a:prstGeom>
          <a:solidFill>
            <a:schemeClr val="tx1"/>
          </a:solidFill>
          <a:ln/>
        </p:spPr>
        <p:txBody>
          <a:bodyPr/>
          <a:lstStyle/>
          <a:p>
            <a:endParaRPr lang="pt-PT"/>
          </a:p>
        </p:txBody>
      </p:sp>
      <p:pic>
        <p:nvPicPr>
          <p:cNvPr id="13" name="Essential 2 icon" descr="preencoded.png"/>
          <p:cNvPicPr>
            <a:picLocks noChangeAspect="1"/>
          </p:cNvPicPr>
          <p:nvPr/>
        </p:nvPicPr>
        <p:blipFill>
          <a:blip r:embed="rId4"/>
          <a:stretch>
            <a:fillRect/>
          </a:stretch>
        </p:blipFill>
        <p:spPr>
          <a:xfrm>
            <a:off x="6984797" y="1920240"/>
            <a:ext cx="365760" cy="365760"/>
          </a:xfrm>
          <a:prstGeom prst="rect">
            <a:avLst/>
          </a:prstGeom>
        </p:spPr>
      </p:pic>
      <p:sp>
        <p:nvSpPr>
          <p:cNvPr id="14" name="Text 9"/>
          <p:cNvSpPr txBox="1"/>
          <p:nvPr/>
        </p:nvSpPr>
        <p:spPr>
          <a:xfrm>
            <a:off x="4658258" y="2788920"/>
            <a:ext cx="2875178" cy="457200"/>
          </a:xfrm>
          <a:prstGeom prst="rect">
            <a:avLst/>
          </a:prstGeom>
          <a:noFill/>
          <a:ln/>
        </p:spPr>
        <p:txBody>
          <a:bodyPr wrap="square" lIns="0" tIns="0" rIns="0" bIns="0" rtlCol="0" anchor="t"/>
          <a:lstStyle/>
          <a:p>
            <a:pPr marL="0" indent="0">
              <a:buNone/>
            </a:pPr>
            <a:r>
              <a:rPr lang="en-US" sz="2000" b="1" dirty="0">
                <a:solidFill>
                  <a:schemeClr val="tx1"/>
                </a:solidFill>
              </a:rPr>
              <a:t>One central schedule</a:t>
            </a:r>
            <a:endParaRPr lang="en-US" sz="2000" dirty="0"/>
          </a:p>
        </p:txBody>
      </p:sp>
      <p:sp>
        <p:nvSpPr>
          <p:cNvPr id="15" name="Text 10"/>
          <p:cNvSpPr txBox="1"/>
          <p:nvPr/>
        </p:nvSpPr>
        <p:spPr>
          <a:xfrm>
            <a:off x="4658258" y="3337560"/>
            <a:ext cx="2875178" cy="13716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2"/>
                </a:solidFill>
              </a:rPr>
              <a:t>Always up to date, with real-time updates</a:t>
            </a:r>
            <a:endParaRPr lang="en-US" sz="1500" dirty="0"/>
          </a:p>
          <a:p>
            <a:pPr marL="177800" indent="-177800">
              <a:spcAft>
                <a:spcPts val="500"/>
              </a:spcAft>
              <a:buSzPct val="100000"/>
              <a:buChar char="•"/>
            </a:pPr>
            <a:r>
              <a:rPr lang="en-US" sz="1500" dirty="0">
                <a:solidFill>
                  <a:schemeClr val="tx2"/>
                </a:solidFill>
              </a:rPr>
              <a:t>The people affected are notified of every change</a:t>
            </a:r>
            <a:endParaRPr lang="en-US" sz="1500" dirty="0"/>
          </a:p>
        </p:txBody>
      </p:sp>
      <p:sp>
        <p:nvSpPr>
          <p:cNvPr id="16" name="Essential Weekly hours tracking"/>
          <p:cNvSpPr/>
          <p:nvPr/>
        </p:nvSpPr>
        <p:spPr>
          <a:xfrm>
            <a:off x="8127797" y="1417320"/>
            <a:ext cx="3515258" cy="3429000"/>
          </a:xfrm>
          <a:prstGeom prst="roundRect">
            <a:avLst>
              <a:gd name="adj" fmla="val 2133"/>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7" name="Text 12"/>
          <p:cNvSpPr txBox="1"/>
          <p:nvPr/>
        </p:nvSpPr>
        <p:spPr>
          <a:xfrm>
            <a:off x="8447837" y="1691640"/>
            <a:ext cx="1371600" cy="82296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03</a:t>
            </a:r>
            <a:endParaRPr lang="en-US" sz="5400" dirty="0"/>
          </a:p>
        </p:txBody>
      </p:sp>
      <p:sp>
        <p:nvSpPr>
          <p:cNvPr id="18" name="Essential 3 circle"/>
          <p:cNvSpPr/>
          <p:nvPr/>
        </p:nvSpPr>
        <p:spPr>
          <a:xfrm>
            <a:off x="10591495" y="1737360"/>
            <a:ext cx="731520" cy="731520"/>
          </a:xfrm>
          <a:prstGeom prst="ellipse">
            <a:avLst/>
          </a:prstGeom>
          <a:solidFill>
            <a:schemeClr val="tx1"/>
          </a:solidFill>
          <a:ln/>
        </p:spPr>
        <p:txBody>
          <a:bodyPr/>
          <a:lstStyle/>
          <a:p>
            <a:endParaRPr lang="pt-PT"/>
          </a:p>
        </p:txBody>
      </p:sp>
      <p:pic>
        <p:nvPicPr>
          <p:cNvPr id="19" name="Essential 3 icon" descr="preencoded.png"/>
          <p:cNvPicPr>
            <a:picLocks noChangeAspect="1"/>
          </p:cNvPicPr>
          <p:nvPr/>
        </p:nvPicPr>
        <p:blipFill>
          <a:blip r:embed="rId5"/>
          <a:stretch>
            <a:fillRect/>
          </a:stretch>
        </p:blipFill>
        <p:spPr>
          <a:xfrm>
            <a:off x="10774375" y="1920240"/>
            <a:ext cx="365760" cy="365760"/>
          </a:xfrm>
          <a:prstGeom prst="rect">
            <a:avLst/>
          </a:prstGeom>
        </p:spPr>
      </p:pic>
      <p:sp>
        <p:nvSpPr>
          <p:cNvPr id="20" name="Text 14"/>
          <p:cNvSpPr txBox="1"/>
          <p:nvPr/>
        </p:nvSpPr>
        <p:spPr>
          <a:xfrm>
            <a:off x="8447837" y="2788920"/>
            <a:ext cx="2875178" cy="457200"/>
          </a:xfrm>
          <a:prstGeom prst="rect">
            <a:avLst/>
          </a:prstGeom>
          <a:noFill/>
          <a:ln/>
        </p:spPr>
        <p:txBody>
          <a:bodyPr wrap="square" lIns="0" tIns="0" rIns="0" bIns="0" rtlCol="0" anchor="t"/>
          <a:lstStyle/>
          <a:p>
            <a:pPr marL="0" indent="0">
              <a:buNone/>
            </a:pPr>
            <a:r>
              <a:rPr lang="en-US" sz="2000" b="1" dirty="0">
                <a:solidFill>
                  <a:schemeClr val="tx1"/>
                </a:solidFill>
              </a:rPr>
              <a:t>Weekly hours tracking</a:t>
            </a:r>
            <a:endParaRPr lang="en-US" sz="2000" dirty="0"/>
          </a:p>
        </p:txBody>
      </p:sp>
      <p:sp>
        <p:nvSpPr>
          <p:cNvPr id="21" name="Text 15"/>
          <p:cNvSpPr txBox="1"/>
          <p:nvPr/>
        </p:nvSpPr>
        <p:spPr>
          <a:xfrm>
            <a:off x="8447837" y="3337560"/>
            <a:ext cx="2875178" cy="13716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2"/>
                </a:solidFill>
              </a:rPr>
              <a:t>Minimum hours and weekly limit of each member, counted automatically</a:t>
            </a:r>
            <a:endParaRPr lang="en-US" sz="1500" dirty="0"/>
          </a:p>
        </p:txBody>
      </p:sp>
      <p:sp>
        <p:nvSpPr>
          <p:cNvPr id="22" name="Simplicity callout"/>
          <p:cNvSpPr/>
          <p:nvPr/>
        </p:nvSpPr>
        <p:spPr>
          <a:xfrm>
            <a:off x="548640" y="5120640"/>
            <a:ext cx="11094415" cy="1051560"/>
          </a:xfrm>
          <a:prstGeom prst="roundRect">
            <a:avLst>
              <a:gd name="adj" fmla="val 6957"/>
            </a:avLst>
          </a:prstGeom>
          <a:solidFill>
            <a:schemeClr val="tx1"/>
          </a:solidFill>
          <a:ln/>
          <a:effectLst>
            <a:outerShdw blurRad="127000" dist="25400" dir="5400000" algn="bl" rotWithShape="0">
              <a:srgbClr val="1E2533">
                <a:alpha val="10000"/>
              </a:srgbClr>
            </a:outerShdw>
          </a:effectLst>
        </p:spPr>
        <p:txBody>
          <a:bodyPr/>
          <a:lstStyle/>
          <a:p>
            <a:endParaRPr lang="pt-PT"/>
          </a:p>
        </p:txBody>
      </p:sp>
      <p:sp>
        <p:nvSpPr>
          <p:cNvPr id="23" name="Simplicity circle"/>
          <p:cNvSpPr/>
          <p:nvPr/>
        </p:nvSpPr>
        <p:spPr>
          <a:xfrm>
            <a:off x="868680" y="5349240"/>
            <a:ext cx="594360" cy="594360"/>
          </a:xfrm>
          <a:prstGeom prst="ellipse">
            <a:avLst/>
          </a:prstGeom>
          <a:solidFill>
            <a:schemeClr val="accent1"/>
          </a:solidFill>
          <a:ln/>
        </p:spPr>
        <p:txBody>
          <a:bodyPr/>
          <a:lstStyle/>
          <a:p>
            <a:endParaRPr lang="pt-PT"/>
          </a:p>
        </p:txBody>
      </p:sp>
      <p:pic>
        <p:nvPicPr>
          <p:cNvPr id="24" name="Simplicity icon" descr="preencoded.png"/>
          <p:cNvPicPr>
            <a:picLocks noChangeAspect="1"/>
          </p:cNvPicPr>
          <p:nvPr/>
        </p:nvPicPr>
        <p:blipFill>
          <a:blip r:embed="rId6"/>
          <a:stretch>
            <a:fillRect/>
          </a:stretch>
        </p:blipFill>
        <p:spPr>
          <a:xfrm>
            <a:off x="1017270" y="5497830"/>
            <a:ext cx="297180" cy="297180"/>
          </a:xfrm>
          <a:prstGeom prst="rect">
            <a:avLst/>
          </a:prstGeom>
        </p:spPr>
      </p:pic>
      <p:sp>
        <p:nvSpPr>
          <p:cNvPr id="25" name="Text 18"/>
          <p:cNvSpPr txBox="1"/>
          <p:nvPr/>
        </p:nvSpPr>
        <p:spPr>
          <a:xfrm>
            <a:off x="1737360" y="5120640"/>
            <a:ext cx="9585655" cy="1051560"/>
          </a:xfrm>
          <a:prstGeom prst="rect">
            <a:avLst/>
          </a:prstGeom>
          <a:noFill/>
          <a:ln/>
        </p:spPr>
        <p:txBody>
          <a:bodyPr wrap="square" lIns="0" tIns="0" rIns="0" bIns="0" rtlCol="0" anchor="ctr"/>
          <a:lstStyle/>
          <a:p>
            <a:pPr marL="0" indent="0">
              <a:buNone/>
            </a:pPr>
            <a:r>
              <a:rPr lang="en-US" sz="1700" b="1" dirty="0">
                <a:solidFill>
                  <a:schemeClr val="accent6"/>
                </a:solidFill>
              </a:rPr>
              <a:t>Simplicity decides adoption. </a:t>
            </a:r>
            <a:r>
              <a:rPr lang="en-US" sz="1700" dirty="0">
                <a:solidFill>
                  <a:schemeClr val="bg1"/>
                </a:solidFill>
              </a:rPr>
              <a:t>The station already dropped Google Calendar and Notion because senior staff could not learn them quickly enough.</a:t>
            </a:r>
            <a:endParaRPr lang="en-US" sz="1700" dirty="0"/>
          </a:p>
        </p:txBody>
      </p:sp>
      <p:sp>
        <p:nvSpPr>
          <p:cNvPr id="3"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Five principal user journeys</a:t>
            </a:r>
            <a:endParaRPr lang="en-US" sz="3600" dirty="0"/>
          </a:p>
        </p:txBody>
      </p:sp>
      <p:sp>
        <p:nvSpPr>
          <p:cNvPr id="4" name="Journey UJ1"/>
          <p:cNvSpPr/>
          <p:nvPr/>
        </p:nvSpPr>
        <p:spPr>
          <a:xfrm>
            <a:off x="548640" y="1371600"/>
            <a:ext cx="11094415" cy="822960"/>
          </a:xfrm>
          <a:prstGeom prst="roundRect">
            <a:avLst>
              <a:gd name="adj" fmla="val 8889"/>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5" name="UJ1 badge"/>
          <p:cNvSpPr/>
          <p:nvPr/>
        </p:nvSpPr>
        <p:spPr>
          <a:xfrm>
            <a:off x="777240" y="1554480"/>
            <a:ext cx="777240" cy="457200"/>
          </a:xfrm>
          <a:prstGeom prst="roundRect">
            <a:avLst>
              <a:gd name="adj" fmla="val 50000"/>
            </a:avLst>
          </a:prstGeom>
          <a:solidFill>
            <a:schemeClr val="tx1"/>
          </a:solidFill>
          <a:ln/>
        </p:spPr>
        <p:txBody>
          <a:bodyPr/>
          <a:lstStyle/>
          <a:p>
            <a:endParaRPr lang="pt-PT"/>
          </a:p>
        </p:txBody>
      </p:sp>
      <p:sp>
        <p:nvSpPr>
          <p:cNvPr id="6" name="Text 3"/>
          <p:cNvSpPr txBox="1"/>
          <p:nvPr/>
        </p:nvSpPr>
        <p:spPr>
          <a:xfrm>
            <a:off x="777240" y="1554480"/>
            <a:ext cx="777240" cy="457200"/>
          </a:xfrm>
          <a:prstGeom prst="rect">
            <a:avLst/>
          </a:prstGeom>
          <a:noFill/>
          <a:ln/>
        </p:spPr>
        <p:txBody>
          <a:bodyPr wrap="square" lIns="0" tIns="0" rIns="0" bIns="0" rtlCol="0" anchor="ctr"/>
          <a:lstStyle/>
          <a:p>
            <a:pPr marL="0" indent="0" algn="ctr">
              <a:buNone/>
            </a:pPr>
            <a:r>
              <a:rPr lang="en-US" sz="1500" b="1" dirty="0">
                <a:solidFill>
                  <a:schemeClr val="bg1"/>
                </a:solidFill>
              </a:rPr>
              <a:t>UJ1</a:t>
            </a:r>
            <a:endParaRPr lang="en-US" sz="1500" dirty="0"/>
          </a:p>
        </p:txBody>
      </p:sp>
      <p:sp>
        <p:nvSpPr>
          <p:cNvPr id="7" name="Text 4"/>
          <p:cNvSpPr txBox="1"/>
          <p:nvPr/>
        </p:nvSpPr>
        <p:spPr>
          <a:xfrm>
            <a:off x="1783080" y="1371600"/>
            <a:ext cx="3200400" cy="822960"/>
          </a:xfrm>
          <a:prstGeom prst="rect">
            <a:avLst/>
          </a:prstGeom>
          <a:noFill/>
          <a:ln/>
        </p:spPr>
        <p:txBody>
          <a:bodyPr wrap="square" lIns="0" tIns="0" rIns="0" bIns="0" rtlCol="0" anchor="ctr"/>
          <a:lstStyle/>
          <a:p>
            <a:pPr marL="0" indent="0">
              <a:buNone/>
            </a:pPr>
            <a:r>
              <a:rPr lang="en-US" sz="1700" b="1" dirty="0">
                <a:solidFill>
                  <a:schemeClr val="tx1"/>
                </a:solidFill>
              </a:rPr>
              <a:t>Plan the weekly schedule</a:t>
            </a:r>
            <a:endParaRPr lang="en-US" sz="1700" dirty="0"/>
          </a:p>
        </p:txBody>
      </p:sp>
      <p:sp>
        <p:nvSpPr>
          <p:cNvPr id="8" name="Text 5"/>
          <p:cNvSpPr txBox="1"/>
          <p:nvPr/>
        </p:nvSpPr>
        <p:spPr>
          <a:xfrm>
            <a:off x="5074920" y="1371600"/>
            <a:ext cx="2331720" cy="822960"/>
          </a:xfrm>
          <a:prstGeom prst="rect">
            <a:avLst/>
          </a:prstGeom>
          <a:noFill/>
          <a:ln/>
        </p:spPr>
        <p:txBody>
          <a:bodyPr wrap="square" lIns="0" tIns="0" rIns="0" bIns="0" rtlCol="0" anchor="ctr"/>
          <a:lstStyle/>
          <a:p>
            <a:pPr marL="0" indent="0">
              <a:buNone/>
            </a:pPr>
            <a:r>
              <a:rPr lang="en-US" sz="1400" dirty="0">
                <a:solidFill>
                  <a:schemeClr val="accent1"/>
                </a:solidFill>
              </a:rPr>
              <a:t>Members, supervisor</a:t>
            </a:r>
            <a:endParaRPr lang="en-US" sz="1400" dirty="0"/>
          </a:p>
        </p:txBody>
      </p:sp>
      <p:sp>
        <p:nvSpPr>
          <p:cNvPr id="9" name="Text 6"/>
          <p:cNvSpPr txBox="1"/>
          <p:nvPr/>
        </p:nvSpPr>
        <p:spPr>
          <a:xfrm>
            <a:off x="7498080" y="1371600"/>
            <a:ext cx="3916375" cy="822960"/>
          </a:xfrm>
          <a:prstGeom prst="rect">
            <a:avLst/>
          </a:prstGeom>
          <a:noFill/>
          <a:ln/>
        </p:spPr>
        <p:txBody>
          <a:bodyPr wrap="square" lIns="0" tIns="0" rIns="0" bIns="0" rtlCol="0" anchor="ctr"/>
          <a:lstStyle/>
          <a:p>
            <a:pPr marL="0" indent="0">
              <a:buNone/>
            </a:pPr>
            <a:r>
              <a:rPr lang="en-US" sz="1400" dirty="0">
                <a:solidFill>
                  <a:schemeClr val="tx2"/>
                </a:solidFill>
              </a:rPr>
              <a:t>Members set unavailability; the supervisor fills the schedule and Escala checks conflicts</a:t>
            </a:r>
            <a:endParaRPr lang="en-US" sz="1400" dirty="0"/>
          </a:p>
        </p:txBody>
      </p:sp>
      <p:sp>
        <p:nvSpPr>
          <p:cNvPr id="10" name="Journey UJ2"/>
          <p:cNvSpPr/>
          <p:nvPr/>
        </p:nvSpPr>
        <p:spPr>
          <a:xfrm>
            <a:off x="548640" y="2322576"/>
            <a:ext cx="11094415" cy="822960"/>
          </a:xfrm>
          <a:prstGeom prst="roundRect">
            <a:avLst>
              <a:gd name="adj" fmla="val 8889"/>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1" name="UJ2 badge"/>
          <p:cNvSpPr/>
          <p:nvPr/>
        </p:nvSpPr>
        <p:spPr>
          <a:xfrm>
            <a:off x="777240" y="2505456"/>
            <a:ext cx="777240" cy="457200"/>
          </a:xfrm>
          <a:prstGeom prst="roundRect">
            <a:avLst>
              <a:gd name="adj" fmla="val 50000"/>
            </a:avLst>
          </a:prstGeom>
          <a:solidFill>
            <a:schemeClr val="tx1"/>
          </a:solidFill>
          <a:ln/>
        </p:spPr>
        <p:txBody>
          <a:bodyPr/>
          <a:lstStyle/>
          <a:p>
            <a:endParaRPr lang="pt-PT"/>
          </a:p>
        </p:txBody>
      </p:sp>
      <p:sp>
        <p:nvSpPr>
          <p:cNvPr id="12" name="Text 9"/>
          <p:cNvSpPr txBox="1"/>
          <p:nvPr/>
        </p:nvSpPr>
        <p:spPr>
          <a:xfrm>
            <a:off x="777240" y="2505456"/>
            <a:ext cx="777240" cy="457200"/>
          </a:xfrm>
          <a:prstGeom prst="rect">
            <a:avLst/>
          </a:prstGeom>
          <a:noFill/>
          <a:ln/>
        </p:spPr>
        <p:txBody>
          <a:bodyPr wrap="square" lIns="0" tIns="0" rIns="0" bIns="0" rtlCol="0" anchor="ctr"/>
          <a:lstStyle/>
          <a:p>
            <a:pPr marL="0" indent="0" algn="ctr">
              <a:buNone/>
            </a:pPr>
            <a:r>
              <a:rPr lang="en-US" sz="1500" b="1" dirty="0">
                <a:solidFill>
                  <a:schemeClr val="bg1"/>
                </a:solidFill>
              </a:rPr>
              <a:t>UJ2</a:t>
            </a:r>
            <a:endParaRPr lang="en-US" sz="1500" dirty="0"/>
          </a:p>
        </p:txBody>
      </p:sp>
      <p:sp>
        <p:nvSpPr>
          <p:cNvPr id="13" name="Text 10"/>
          <p:cNvSpPr txBox="1"/>
          <p:nvPr/>
        </p:nvSpPr>
        <p:spPr>
          <a:xfrm>
            <a:off x="1783080" y="2322576"/>
            <a:ext cx="3200400" cy="822960"/>
          </a:xfrm>
          <a:prstGeom prst="rect">
            <a:avLst/>
          </a:prstGeom>
          <a:noFill/>
          <a:ln/>
        </p:spPr>
        <p:txBody>
          <a:bodyPr wrap="square" lIns="0" tIns="0" rIns="0" bIns="0" rtlCol="0" anchor="ctr"/>
          <a:lstStyle/>
          <a:p>
            <a:pPr marL="0" indent="0">
              <a:buNone/>
            </a:pPr>
            <a:r>
              <a:rPr lang="en-US" sz="1700" b="1" dirty="0">
                <a:solidFill>
                  <a:schemeClr val="tx1"/>
                </a:solidFill>
              </a:rPr>
              <a:t>Register a shift extension</a:t>
            </a:r>
            <a:endParaRPr lang="en-US" sz="1700" dirty="0"/>
          </a:p>
        </p:txBody>
      </p:sp>
      <p:sp>
        <p:nvSpPr>
          <p:cNvPr id="14" name="Text 11"/>
          <p:cNvSpPr txBox="1"/>
          <p:nvPr/>
        </p:nvSpPr>
        <p:spPr>
          <a:xfrm>
            <a:off x="5074920" y="2322576"/>
            <a:ext cx="2331720" cy="822960"/>
          </a:xfrm>
          <a:prstGeom prst="rect">
            <a:avLst/>
          </a:prstGeom>
          <a:noFill/>
          <a:ln/>
        </p:spPr>
        <p:txBody>
          <a:bodyPr wrap="square" lIns="0" tIns="0" rIns="0" bIns="0" rtlCol="0" anchor="ctr"/>
          <a:lstStyle/>
          <a:p>
            <a:pPr marL="0" indent="0">
              <a:buNone/>
            </a:pPr>
            <a:r>
              <a:rPr lang="en-US" sz="1400" dirty="0">
                <a:solidFill>
                  <a:schemeClr val="accent1"/>
                </a:solidFill>
              </a:rPr>
              <a:t>Firefighter, supervisor</a:t>
            </a:r>
            <a:endParaRPr lang="en-US" sz="1400" dirty="0"/>
          </a:p>
        </p:txBody>
      </p:sp>
      <p:sp>
        <p:nvSpPr>
          <p:cNvPr id="15" name="Text 12"/>
          <p:cNvSpPr txBox="1"/>
          <p:nvPr/>
        </p:nvSpPr>
        <p:spPr>
          <a:xfrm>
            <a:off x="7498080" y="2322576"/>
            <a:ext cx="3916375" cy="822960"/>
          </a:xfrm>
          <a:prstGeom prst="rect">
            <a:avLst/>
          </a:prstGeom>
          <a:noFill/>
          <a:ln/>
        </p:spPr>
        <p:txBody>
          <a:bodyPr wrap="square" lIns="0" tIns="0" rIns="0" bIns="0" rtlCol="0" anchor="ctr"/>
          <a:lstStyle/>
          <a:p>
            <a:pPr marL="0" indent="0">
              <a:buNone/>
            </a:pPr>
            <a:r>
              <a:rPr lang="en-US" sz="1400" dirty="0">
                <a:solidFill>
                  <a:schemeClr val="tx2"/>
                </a:solidFill>
              </a:rPr>
              <a:t>Extra hours registered after the emergency, then approved or rejected with a reason</a:t>
            </a:r>
            <a:endParaRPr lang="en-US" sz="1400" dirty="0"/>
          </a:p>
        </p:txBody>
      </p:sp>
      <p:sp>
        <p:nvSpPr>
          <p:cNvPr id="16" name="Journey UJ3"/>
          <p:cNvSpPr/>
          <p:nvPr/>
        </p:nvSpPr>
        <p:spPr>
          <a:xfrm>
            <a:off x="548640" y="3273552"/>
            <a:ext cx="11094415" cy="822960"/>
          </a:xfrm>
          <a:prstGeom prst="roundRect">
            <a:avLst>
              <a:gd name="adj" fmla="val 8889"/>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7" name="UJ3 badge"/>
          <p:cNvSpPr/>
          <p:nvPr/>
        </p:nvSpPr>
        <p:spPr>
          <a:xfrm>
            <a:off x="777240" y="3456432"/>
            <a:ext cx="777240" cy="457200"/>
          </a:xfrm>
          <a:prstGeom prst="roundRect">
            <a:avLst>
              <a:gd name="adj" fmla="val 50000"/>
            </a:avLst>
          </a:prstGeom>
          <a:solidFill>
            <a:schemeClr val="tx1"/>
          </a:solidFill>
          <a:ln/>
        </p:spPr>
        <p:txBody>
          <a:bodyPr/>
          <a:lstStyle/>
          <a:p>
            <a:endParaRPr lang="pt-PT"/>
          </a:p>
        </p:txBody>
      </p:sp>
      <p:sp>
        <p:nvSpPr>
          <p:cNvPr id="18" name="Text 15"/>
          <p:cNvSpPr txBox="1"/>
          <p:nvPr/>
        </p:nvSpPr>
        <p:spPr>
          <a:xfrm>
            <a:off x="777240" y="3456432"/>
            <a:ext cx="777240" cy="457200"/>
          </a:xfrm>
          <a:prstGeom prst="rect">
            <a:avLst/>
          </a:prstGeom>
          <a:noFill/>
          <a:ln/>
        </p:spPr>
        <p:txBody>
          <a:bodyPr wrap="square" lIns="0" tIns="0" rIns="0" bIns="0" rtlCol="0" anchor="ctr"/>
          <a:lstStyle/>
          <a:p>
            <a:pPr marL="0" indent="0" algn="ctr">
              <a:buNone/>
            </a:pPr>
            <a:r>
              <a:rPr lang="en-US" sz="1500" b="1" dirty="0">
                <a:solidFill>
                  <a:schemeClr val="bg1"/>
                </a:solidFill>
              </a:rPr>
              <a:t>UJ3</a:t>
            </a:r>
            <a:endParaRPr lang="en-US" sz="1500" dirty="0"/>
          </a:p>
        </p:txBody>
      </p:sp>
      <p:sp>
        <p:nvSpPr>
          <p:cNvPr id="19" name="Text 16"/>
          <p:cNvSpPr txBox="1"/>
          <p:nvPr/>
        </p:nvSpPr>
        <p:spPr>
          <a:xfrm>
            <a:off x="1783080" y="3273552"/>
            <a:ext cx="3200400" cy="822960"/>
          </a:xfrm>
          <a:prstGeom prst="rect">
            <a:avLst/>
          </a:prstGeom>
          <a:noFill/>
          <a:ln/>
        </p:spPr>
        <p:txBody>
          <a:bodyPr wrap="square" lIns="0" tIns="0" rIns="0" bIns="0" rtlCol="0" anchor="ctr"/>
          <a:lstStyle/>
          <a:p>
            <a:pPr marL="0" indent="0">
              <a:buNone/>
            </a:pPr>
            <a:r>
              <a:rPr lang="en-US" sz="1700" b="1" dirty="0">
                <a:solidFill>
                  <a:schemeClr val="tx1"/>
                </a:solidFill>
              </a:rPr>
              <a:t>Ask for a shift swap</a:t>
            </a:r>
            <a:endParaRPr lang="en-US" sz="1700" dirty="0"/>
          </a:p>
        </p:txBody>
      </p:sp>
      <p:sp>
        <p:nvSpPr>
          <p:cNvPr id="20" name="Text 17"/>
          <p:cNvSpPr txBox="1"/>
          <p:nvPr/>
        </p:nvSpPr>
        <p:spPr>
          <a:xfrm>
            <a:off x="5074920" y="3273552"/>
            <a:ext cx="2331720" cy="822960"/>
          </a:xfrm>
          <a:prstGeom prst="rect">
            <a:avLst/>
          </a:prstGeom>
          <a:noFill/>
          <a:ln/>
        </p:spPr>
        <p:txBody>
          <a:bodyPr wrap="square" lIns="0" tIns="0" rIns="0" bIns="0" rtlCol="0" anchor="ctr"/>
          <a:lstStyle/>
          <a:p>
            <a:pPr marL="0" indent="0">
              <a:buNone/>
            </a:pPr>
            <a:r>
              <a:rPr lang="en-US" sz="1400" dirty="0">
                <a:solidFill>
                  <a:schemeClr val="accent1"/>
                </a:solidFill>
              </a:rPr>
              <a:t>Member, colleague, supervisor</a:t>
            </a:r>
            <a:endParaRPr lang="en-US" sz="1400" dirty="0"/>
          </a:p>
        </p:txBody>
      </p:sp>
      <p:sp>
        <p:nvSpPr>
          <p:cNvPr id="21" name="Text 18"/>
          <p:cNvSpPr txBox="1"/>
          <p:nvPr/>
        </p:nvSpPr>
        <p:spPr>
          <a:xfrm>
            <a:off x="7498080" y="3273552"/>
            <a:ext cx="3916375" cy="822960"/>
          </a:xfrm>
          <a:prstGeom prst="rect">
            <a:avLst/>
          </a:prstGeom>
          <a:noFill/>
          <a:ln/>
        </p:spPr>
        <p:txBody>
          <a:bodyPr wrap="square" lIns="0" tIns="0" rIns="0" bIns="0" rtlCol="0" anchor="ctr"/>
          <a:lstStyle/>
          <a:p>
            <a:pPr marL="0" indent="0">
              <a:buNone/>
            </a:pPr>
            <a:r>
              <a:rPr lang="en-US" sz="1400" dirty="0">
                <a:solidFill>
                  <a:schemeClr val="tx2"/>
                </a:solidFill>
              </a:rPr>
              <a:t>Swap with a colleague or anyone; Escala validates roles and weekly limits</a:t>
            </a:r>
            <a:endParaRPr lang="en-US" sz="1400" dirty="0"/>
          </a:p>
        </p:txBody>
      </p:sp>
      <p:sp>
        <p:nvSpPr>
          <p:cNvPr id="22" name="Journey UJ4"/>
          <p:cNvSpPr/>
          <p:nvPr/>
        </p:nvSpPr>
        <p:spPr>
          <a:xfrm>
            <a:off x="548640" y="4224528"/>
            <a:ext cx="11094415" cy="822960"/>
          </a:xfrm>
          <a:prstGeom prst="roundRect">
            <a:avLst>
              <a:gd name="adj" fmla="val 8889"/>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3" name="UJ4 badge"/>
          <p:cNvSpPr/>
          <p:nvPr/>
        </p:nvSpPr>
        <p:spPr>
          <a:xfrm>
            <a:off x="777240" y="4407408"/>
            <a:ext cx="777240" cy="457200"/>
          </a:xfrm>
          <a:prstGeom prst="roundRect">
            <a:avLst>
              <a:gd name="adj" fmla="val 50000"/>
            </a:avLst>
          </a:prstGeom>
          <a:solidFill>
            <a:schemeClr val="tx1"/>
          </a:solidFill>
          <a:ln/>
        </p:spPr>
        <p:txBody>
          <a:bodyPr/>
          <a:lstStyle/>
          <a:p>
            <a:endParaRPr lang="pt-PT"/>
          </a:p>
        </p:txBody>
      </p:sp>
      <p:sp>
        <p:nvSpPr>
          <p:cNvPr id="24" name="Text 21"/>
          <p:cNvSpPr txBox="1"/>
          <p:nvPr/>
        </p:nvSpPr>
        <p:spPr>
          <a:xfrm>
            <a:off x="777240" y="4407408"/>
            <a:ext cx="777240" cy="457200"/>
          </a:xfrm>
          <a:prstGeom prst="rect">
            <a:avLst/>
          </a:prstGeom>
          <a:noFill/>
          <a:ln/>
        </p:spPr>
        <p:txBody>
          <a:bodyPr wrap="square" lIns="0" tIns="0" rIns="0" bIns="0" rtlCol="0" anchor="ctr"/>
          <a:lstStyle/>
          <a:p>
            <a:pPr marL="0" indent="0" algn="ctr">
              <a:buNone/>
            </a:pPr>
            <a:r>
              <a:rPr lang="en-US" sz="1500" b="1" dirty="0">
                <a:solidFill>
                  <a:schemeClr val="bg1"/>
                </a:solidFill>
              </a:rPr>
              <a:t>UJ4</a:t>
            </a:r>
            <a:endParaRPr lang="en-US" sz="1500" dirty="0"/>
          </a:p>
        </p:txBody>
      </p:sp>
      <p:sp>
        <p:nvSpPr>
          <p:cNvPr id="25" name="Text 22"/>
          <p:cNvSpPr txBox="1"/>
          <p:nvPr/>
        </p:nvSpPr>
        <p:spPr>
          <a:xfrm>
            <a:off x="1783080" y="4224528"/>
            <a:ext cx="3200400" cy="822960"/>
          </a:xfrm>
          <a:prstGeom prst="rect">
            <a:avLst/>
          </a:prstGeom>
          <a:noFill/>
          <a:ln/>
        </p:spPr>
        <p:txBody>
          <a:bodyPr wrap="square" lIns="0" tIns="0" rIns="0" bIns="0" rtlCol="0" anchor="ctr"/>
          <a:lstStyle/>
          <a:p>
            <a:pPr marL="0" indent="0">
              <a:buNone/>
            </a:pPr>
            <a:r>
              <a:rPr lang="en-US" sz="1700" b="1" dirty="0">
                <a:solidFill>
                  <a:schemeClr val="tx1"/>
                </a:solidFill>
              </a:rPr>
              <a:t>See who is on shift</a:t>
            </a:r>
            <a:endParaRPr lang="en-US" sz="1700" dirty="0"/>
          </a:p>
        </p:txBody>
      </p:sp>
      <p:sp>
        <p:nvSpPr>
          <p:cNvPr id="26" name="Text 23"/>
          <p:cNvSpPr txBox="1"/>
          <p:nvPr/>
        </p:nvSpPr>
        <p:spPr>
          <a:xfrm>
            <a:off x="5074920" y="4224528"/>
            <a:ext cx="2331720" cy="822960"/>
          </a:xfrm>
          <a:prstGeom prst="rect">
            <a:avLst/>
          </a:prstGeom>
          <a:noFill/>
          <a:ln/>
        </p:spPr>
        <p:txBody>
          <a:bodyPr wrap="square" lIns="0" tIns="0" rIns="0" bIns="0" rtlCol="0" anchor="ctr"/>
          <a:lstStyle/>
          <a:p>
            <a:pPr marL="0" indent="0">
              <a:buNone/>
            </a:pPr>
            <a:r>
              <a:rPr lang="en-US" sz="1400" dirty="0">
                <a:solidFill>
                  <a:schemeClr val="accent1"/>
                </a:solidFill>
              </a:rPr>
              <a:t>Dispatcher</a:t>
            </a:r>
            <a:endParaRPr lang="en-US" sz="1400" dirty="0"/>
          </a:p>
        </p:txBody>
      </p:sp>
      <p:sp>
        <p:nvSpPr>
          <p:cNvPr id="27" name="Text 24"/>
          <p:cNvSpPr txBox="1"/>
          <p:nvPr/>
        </p:nvSpPr>
        <p:spPr>
          <a:xfrm>
            <a:off x="7498080" y="4224528"/>
            <a:ext cx="3916375" cy="822960"/>
          </a:xfrm>
          <a:prstGeom prst="rect">
            <a:avLst/>
          </a:prstGeom>
          <a:noFill/>
          <a:ln/>
        </p:spPr>
        <p:txBody>
          <a:bodyPr wrap="square" lIns="0" tIns="0" rIns="0" bIns="0" rtlCol="0" anchor="ctr"/>
          <a:lstStyle/>
          <a:p>
            <a:pPr marL="0" indent="0">
              <a:buNone/>
            </a:pPr>
            <a:r>
              <a:rPr lang="en-US" sz="1400" dirty="0">
                <a:solidFill>
                  <a:schemeClr val="tx2"/>
                </a:solidFill>
              </a:rPr>
              <a:t>The on-shift board shows who is on shift, their role and shift end</a:t>
            </a:r>
            <a:endParaRPr lang="en-US" sz="1400" dirty="0"/>
          </a:p>
        </p:txBody>
      </p:sp>
      <p:sp>
        <p:nvSpPr>
          <p:cNvPr id="28" name="Journey UJ5"/>
          <p:cNvSpPr/>
          <p:nvPr/>
        </p:nvSpPr>
        <p:spPr>
          <a:xfrm>
            <a:off x="548640" y="5175504"/>
            <a:ext cx="11094415" cy="822960"/>
          </a:xfrm>
          <a:prstGeom prst="roundRect">
            <a:avLst>
              <a:gd name="adj" fmla="val 8889"/>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9" name="UJ5 badge"/>
          <p:cNvSpPr/>
          <p:nvPr/>
        </p:nvSpPr>
        <p:spPr>
          <a:xfrm>
            <a:off x="777240" y="5358384"/>
            <a:ext cx="777240" cy="457200"/>
          </a:xfrm>
          <a:prstGeom prst="roundRect">
            <a:avLst>
              <a:gd name="adj" fmla="val 50000"/>
            </a:avLst>
          </a:prstGeom>
          <a:solidFill>
            <a:schemeClr val="tx1"/>
          </a:solidFill>
          <a:ln/>
        </p:spPr>
        <p:txBody>
          <a:bodyPr/>
          <a:lstStyle/>
          <a:p>
            <a:endParaRPr lang="pt-PT"/>
          </a:p>
        </p:txBody>
      </p:sp>
      <p:sp>
        <p:nvSpPr>
          <p:cNvPr id="30" name="Text 27"/>
          <p:cNvSpPr txBox="1"/>
          <p:nvPr/>
        </p:nvSpPr>
        <p:spPr>
          <a:xfrm>
            <a:off x="777240" y="5358384"/>
            <a:ext cx="777240" cy="457200"/>
          </a:xfrm>
          <a:prstGeom prst="rect">
            <a:avLst/>
          </a:prstGeom>
          <a:noFill/>
          <a:ln/>
        </p:spPr>
        <p:txBody>
          <a:bodyPr wrap="square" lIns="0" tIns="0" rIns="0" bIns="0" rtlCol="0" anchor="ctr"/>
          <a:lstStyle/>
          <a:p>
            <a:pPr marL="0" indent="0" algn="ctr">
              <a:buNone/>
            </a:pPr>
            <a:r>
              <a:rPr lang="en-US" sz="1500" b="1" dirty="0">
                <a:solidFill>
                  <a:schemeClr val="bg1"/>
                </a:solidFill>
              </a:rPr>
              <a:t>UJ5</a:t>
            </a:r>
            <a:endParaRPr lang="en-US" sz="1500" dirty="0"/>
          </a:p>
        </p:txBody>
      </p:sp>
      <p:sp>
        <p:nvSpPr>
          <p:cNvPr id="31" name="Text 28"/>
          <p:cNvSpPr txBox="1"/>
          <p:nvPr/>
        </p:nvSpPr>
        <p:spPr>
          <a:xfrm>
            <a:off x="1783080" y="5175504"/>
            <a:ext cx="3200400" cy="822960"/>
          </a:xfrm>
          <a:prstGeom prst="rect">
            <a:avLst/>
          </a:prstGeom>
          <a:noFill/>
          <a:ln/>
        </p:spPr>
        <p:txBody>
          <a:bodyPr wrap="square" lIns="0" tIns="0" rIns="0" bIns="0" rtlCol="0" anchor="ctr"/>
          <a:lstStyle/>
          <a:p>
            <a:pPr marL="0" indent="0">
              <a:buNone/>
            </a:pPr>
            <a:r>
              <a:rPr lang="en-US" sz="1700" b="1" dirty="0">
                <a:solidFill>
                  <a:schemeClr val="tx1"/>
                </a:solidFill>
              </a:rPr>
              <a:t>Plan a training session</a:t>
            </a:r>
            <a:endParaRPr lang="en-US" sz="1700" dirty="0"/>
          </a:p>
        </p:txBody>
      </p:sp>
      <p:sp>
        <p:nvSpPr>
          <p:cNvPr id="32" name="Text 29"/>
          <p:cNvSpPr txBox="1"/>
          <p:nvPr/>
        </p:nvSpPr>
        <p:spPr>
          <a:xfrm>
            <a:off x="5074920" y="5175504"/>
            <a:ext cx="2331720" cy="822960"/>
          </a:xfrm>
          <a:prstGeom prst="rect">
            <a:avLst/>
          </a:prstGeom>
          <a:noFill/>
          <a:ln/>
        </p:spPr>
        <p:txBody>
          <a:bodyPr wrap="square" lIns="0" tIns="0" rIns="0" bIns="0" rtlCol="0" anchor="ctr"/>
          <a:lstStyle/>
          <a:p>
            <a:pPr marL="0" indent="0">
              <a:buNone/>
            </a:pPr>
            <a:r>
              <a:rPr lang="en-US" sz="1400" dirty="0">
                <a:solidFill>
                  <a:schemeClr val="accent1"/>
                </a:solidFill>
              </a:rPr>
              <a:t>Station chief, members</a:t>
            </a:r>
            <a:endParaRPr lang="en-US" sz="1400" dirty="0"/>
          </a:p>
        </p:txBody>
      </p:sp>
      <p:sp>
        <p:nvSpPr>
          <p:cNvPr id="33" name="Text 30"/>
          <p:cNvSpPr txBox="1"/>
          <p:nvPr/>
        </p:nvSpPr>
        <p:spPr>
          <a:xfrm>
            <a:off x="7498080" y="5175504"/>
            <a:ext cx="3916375" cy="822960"/>
          </a:xfrm>
          <a:prstGeom prst="rect">
            <a:avLst/>
          </a:prstGeom>
          <a:noFill/>
          <a:ln/>
        </p:spPr>
        <p:txBody>
          <a:bodyPr wrap="square" lIns="0" tIns="0" rIns="0" bIns="0" rtlCol="0" anchor="ctr"/>
          <a:lstStyle/>
          <a:p>
            <a:pPr marL="0" indent="0">
              <a:buNone/>
            </a:pPr>
            <a:r>
              <a:rPr lang="en-US" sz="1400" dirty="0">
                <a:solidFill>
                  <a:schemeClr val="tx2"/>
                </a:solidFill>
              </a:rPr>
              <a:t>Pick a shift and members; Escala keeps key roles covered</a:t>
            </a:r>
            <a:endParaRPr lang="en-US" sz="1400" dirty="0"/>
          </a:p>
        </p:txBody>
      </p:sp>
      <p:sp>
        <p:nvSpPr>
          <p:cNvPr id="3"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Sprint A deliverables: current status</a:t>
            </a:r>
            <a:endParaRPr lang="en-US" sz="3600" dirty="0"/>
          </a:p>
        </p:txBody>
      </p:sp>
      <p:sp>
        <p:nvSpPr>
          <p:cNvPr id="4" name="Phase 1 card"/>
          <p:cNvSpPr/>
          <p:nvPr/>
        </p:nvSpPr>
        <p:spPr>
          <a:xfrm>
            <a:off x="548640" y="1371600"/>
            <a:ext cx="3515258" cy="4160520"/>
          </a:xfrm>
          <a:prstGeom prst="roundRect">
            <a:avLst>
              <a:gd name="adj" fmla="val 2081"/>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5" name="Text 2"/>
          <p:cNvSpPr txBox="1"/>
          <p:nvPr/>
        </p:nvSpPr>
        <p:spPr>
          <a:xfrm>
            <a:off x="868680" y="1645920"/>
            <a:ext cx="2875178"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PHASE 1</a:t>
            </a:r>
            <a:endParaRPr lang="en-US" sz="1200" dirty="0"/>
          </a:p>
        </p:txBody>
      </p:sp>
      <p:sp>
        <p:nvSpPr>
          <p:cNvPr id="6" name="Text 3"/>
          <p:cNvSpPr txBox="1"/>
          <p:nvPr/>
        </p:nvSpPr>
        <p:spPr>
          <a:xfrm>
            <a:off x="868680" y="1920240"/>
            <a:ext cx="2875178" cy="411480"/>
          </a:xfrm>
          <a:prstGeom prst="rect">
            <a:avLst/>
          </a:prstGeom>
          <a:noFill/>
          <a:ln/>
        </p:spPr>
        <p:txBody>
          <a:bodyPr wrap="square" lIns="0" tIns="0" rIns="0" bIns="0" rtlCol="0" anchor="t"/>
          <a:lstStyle/>
          <a:p>
            <a:pPr marL="0" indent="0">
              <a:buNone/>
            </a:pPr>
            <a:r>
              <a:rPr lang="en-US" sz="1900" b="1" dirty="0">
                <a:solidFill>
                  <a:schemeClr val="tx1"/>
                </a:solidFill>
              </a:rPr>
              <a:t>Project setup</a:t>
            </a:r>
            <a:endParaRPr lang="en-US" sz="1900" dirty="0"/>
          </a:p>
        </p:txBody>
      </p:sp>
      <p:sp>
        <p:nvSpPr>
          <p:cNvPr id="7" name="Phase 1 status 1"/>
          <p:cNvSpPr/>
          <p:nvPr/>
        </p:nvSpPr>
        <p:spPr>
          <a:xfrm>
            <a:off x="868680" y="2660904"/>
            <a:ext cx="182880" cy="182880"/>
          </a:xfrm>
          <a:prstGeom prst="ellipse">
            <a:avLst/>
          </a:prstGeom>
          <a:solidFill>
            <a:schemeClr val="accent2"/>
          </a:solidFill>
          <a:ln/>
        </p:spPr>
        <p:txBody>
          <a:bodyPr/>
          <a:lstStyle/>
          <a:p>
            <a:endParaRPr lang="pt-PT"/>
          </a:p>
        </p:txBody>
      </p:sp>
      <p:sp>
        <p:nvSpPr>
          <p:cNvPr id="8" name="Text 5"/>
          <p:cNvSpPr txBox="1"/>
          <p:nvPr/>
        </p:nvSpPr>
        <p:spPr>
          <a:xfrm>
            <a:off x="1188720" y="2514600"/>
            <a:ext cx="2600858" cy="475488"/>
          </a:xfrm>
          <a:prstGeom prst="rect">
            <a:avLst/>
          </a:prstGeom>
          <a:noFill/>
          <a:ln/>
        </p:spPr>
        <p:txBody>
          <a:bodyPr wrap="square" lIns="0" tIns="0" rIns="0" bIns="0" rtlCol="0" anchor="ctr"/>
          <a:lstStyle/>
          <a:p>
            <a:pPr marL="0" indent="0">
              <a:buNone/>
            </a:pPr>
            <a:r>
              <a:rPr lang="en-US" sz="1400" dirty="0">
                <a:solidFill>
                  <a:schemeClr val="tx1"/>
                </a:solidFill>
              </a:rPr>
              <a:t>Git repository (GitHub)</a:t>
            </a:r>
            <a:endParaRPr lang="en-US" sz="1400" dirty="0"/>
          </a:p>
        </p:txBody>
      </p:sp>
      <p:sp>
        <p:nvSpPr>
          <p:cNvPr id="9" name="Phase 1 status 2"/>
          <p:cNvSpPr/>
          <p:nvPr/>
        </p:nvSpPr>
        <p:spPr>
          <a:xfrm>
            <a:off x="868680" y="3163824"/>
            <a:ext cx="182880" cy="182880"/>
          </a:xfrm>
          <a:prstGeom prst="ellipse">
            <a:avLst/>
          </a:prstGeom>
          <a:solidFill>
            <a:schemeClr val="accent2"/>
          </a:solidFill>
          <a:ln/>
        </p:spPr>
        <p:txBody>
          <a:bodyPr/>
          <a:lstStyle/>
          <a:p>
            <a:endParaRPr lang="pt-PT"/>
          </a:p>
        </p:txBody>
      </p:sp>
      <p:sp>
        <p:nvSpPr>
          <p:cNvPr id="10" name="Text 7"/>
          <p:cNvSpPr txBox="1"/>
          <p:nvPr/>
        </p:nvSpPr>
        <p:spPr>
          <a:xfrm>
            <a:off x="1188720" y="3017520"/>
            <a:ext cx="2600858" cy="475488"/>
          </a:xfrm>
          <a:prstGeom prst="rect">
            <a:avLst/>
          </a:prstGeom>
          <a:noFill/>
          <a:ln/>
        </p:spPr>
        <p:txBody>
          <a:bodyPr wrap="square" lIns="0" tIns="0" rIns="0" bIns="0" rtlCol="0" anchor="ctr"/>
          <a:lstStyle/>
          <a:p>
            <a:pPr marL="0" indent="0">
              <a:buNone/>
            </a:pPr>
            <a:r>
              <a:rPr lang="en-US" sz="1400" dirty="0">
                <a:solidFill>
                  <a:schemeClr val="tx1"/>
                </a:solidFill>
              </a:rPr>
              <a:t>Issue tracking (Jira)</a:t>
            </a:r>
            <a:endParaRPr lang="en-US" sz="1400" dirty="0"/>
          </a:p>
        </p:txBody>
      </p:sp>
      <p:sp>
        <p:nvSpPr>
          <p:cNvPr id="11" name="Phase 1 status 3"/>
          <p:cNvSpPr/>
          <p:nvPr/>
        </p:nvSpPr>
        <p:spPr>
          <a:xfrm>
            <a:off x="868680" y="3666744"/>
            <a:ext cx="182880" cy="182880"/>
          </a:xfrm>
          <a:prstGeom prst="ellipse">
            <a:avLst/>
          </a:prstGeom>
          <a:solidFill>
            <a:schemeClr val="accent2"/>
          </a:solidFill>
          <a:ln/>
        </p:spPr>
        <p:txBody>
          <a:bodyPr/>
          <a:lstStyle/>
          <a:p>
            <a:endParaRPr lang="pt-PT"/>
          </a:p>
        </p:txBody>
      </p:sp>
      <p:sp>
        <p:nvSpPr>
          <p:cNvPr id="12" name="Text 9"/>
          <p:cNvSpPr txBox="1"/>
          <p:nvPr/>
        </p:nvSpPr>
        <p:spPr>
          <a:xfrm>
            <a:off x="1188720" y="3520440"/>
            <a:ext cx="2600858" cy="475488"/>
          </a:xfrm>
          <a:prstGeom prst="rect">
            <a:avLst/>
          </a:prstGeom>
          <a:noFill/>
          <a:ln/>
        </p:spPr>
        <p:txBody>
          <a:bodyPr wrap="square" lIns="0" tIns="0" rIns="0" bIns="0" rtlCol="0" anchor="ctr"/>
          <a:lstStyle/>
          <a:p>
            <a:pPr marL="0" indent="0">
              <a:buNone/>
            </a:pPr>
            <a:r>
              <a:rPr lang="en-US" sz="1400" dirty="0">
                <a:solidFill>
                  <a:schemeClr val="tx1"/>
                </a:solidFill>
              </a:rPr>
              <a:t>Team methodology (Scrum)</a:t>
            </a:r>
            <a:endParaRPr lang="en-US" sz="1400" dirty="0"/>
          </a:p>
        </p:txBody>
      </p:sp>
      <p:sp>
        <p:nvSpPr>
          <p:cNvPr id="13" name="Phase 1 status 4"/>
          <p:cNvSpPr/>
          <p:nvPr/>
        </p:nvSpPr>
        <p:spPr>
          <a:xfrm>
            <a:off x="868680" y="4169664"/>
            <a:ext cx="182880" cy="182880"/>
          </a:xfrm>
          <a:prstGeom prst="ellipse">
            <a:avLst/>
          </a:prstGeom>
          <a:solidFill>
            <a:schemeClr val="accent2"/>
          </a:solidFill>
          <a:ln/>
        </p:spPr>
        <p:txBody>
          <a:bodyPr/>
          <a:lstStyle/>
          <a:p>
            <a:endParaRPr lang="pt-PT"/>
          </a:p>
        </p:txBody>
      </p:sp>
      <p:sp>
        <p:nvSpPr>
          <p:cNvPr id="14" name="Text 11"/>
          <p:cNvSpPr txBox="1"/>
          <p:nvPr/>
        </p:nvSpPr>
        <p:spPr>
          <a:xfrm>
            <a:off x="1188720" y="4023360"/>
            <a:ext cx="2600858" cy="475488"/>
          </a:xfrm>
          <a:prstGeom prst="rect">
            <a:avLst/>
          </a:prstGeom>
          <a:noFill/>
          <a:ln/>
        </p:spPr>
        <p:txBody>
          <a:bodyPr wrap="square" lIns="0" tIns="0" rIns="0" bIns="0" rtlCol="0" anchor="ctr"/>
          <a:lstStyle/>
          <a:p>
            <a:pPr marL="0" indent="0">
              <a:buNone/>
            </a:pPr>
            <a:r>
              <a:rPr lang="en-US" sz="1400" dirty="0">
                <a:solidFill>
                  <a:schemeClr val="tx1"/>
                </a:solidFill>
              </a:rPr>
              <a:t>Definition of Ready</a:t>
            </a:r>
            <a:endParaRPr lang="en-US" sz="1400" dirty="0"/>
          </a:p>
        </p:txBody>
      </p:sp>
      <p:sp>
        <p:nvSpPr>
          <p:cNvPr id="15" name="Phase 1 status 5"/>
          <p:cNvSpPr/>
          <p:nvPr/>
        </p:nvSpPr>
        <p:spPr>
          <a:xfrm>
            <a:off x="868680" y="4672584"/>
            <a:ext cx="182880" cy="182880"/>
          </a:xfrm>
          <a:prstGeom prst="ellipse">
            <a:avLst/>
          </a:prstGeom>
          <a:solidFill>
            <a:schemeClr val="accent2"/>
          </a:solidFill>
          <a:ln/>
        </p:spPr>
        <p:txBody>
          <a:bodyPr/>
          <a:lstStyle/>
          <a:p>
            <a:endParaRPr lang="pt-PT"/>
          </a:p>
        </p:txBody>
      </p:sp>
      <p:sp>
        <p:nvSpPr>
          <p:cNvPr id="16" name="Text 13"/>
          <p:cNvSpPr txBox="1"/>
          <p:nvPr/>
        </p:nvSpPr>
        <p:spPr>
          <a:xfrm>
            <a:off x="1188720" y="4526280"/>
            <a:ext cx="2600858" cy="475488"/>
          </a:xfrm>
          <a:prstGeom prst="rect">
            <a:avLst/>
          </a:prstGeom>
          <a:noFill/>
          <a:ln/>
        </p:spPr>
        <p:txBody>
          <a:bodyPr wrap="square" lIns="0" tIns="0" rIns="0" bIns="0" rtlCol="0" anchor="ctr"/>
          <a:lstStyle/>
          <a:p>
            <a:pPr marL="0" indent="0">
              <a:buNone/>
            </a:pPr>
            <a:r>
              <a:rPr lang="en-US" sz="1400" dirty="0">
                <a:solidFill>
                  <a:schemeClr val="tx1"/>
                </a:solidFill>
              </a:rPr>
              <a:t>Definition of Done</a:t>
            </a:r>
            <a:endParaRPr lang="en-US" sz="1400" dirty="0"/>
          </a:p>
        </p:txBody>
      </p:sp>
      <p:sp>
        <p:nvSpPr>
          <p:cNvPr id="17" name="Phase 1 status 6"/>
          <p:cNvSpPr/>
          <p:nvPr/>
        </p:nvSpPr>
        <p:spPr>
          <a:xfrm>
            <a:off x="868680" y="5175504"/>
            <a:ext cx="182880" cy="182880"/>
          </a:xfrm>
          <a:prstGeom prst="ellipse">
            <a:avLst/>
          </a:prstGeom>
          <a:solidFill>
            <a:schemeClr val="accent2"/>
          </a:solidFill>
          <a:ln/>
        </p:spPr>
        <p:txBody>
          <a:bodyPr/>
          <a:lstStyle/>
          <a:p>
            <a:endParaRPr lang="pt-PT"/>
          </a:p>
        </p:txBody>
      </p:sp>
      <p:sp>
        <p:nvSpPr>
          <p:cNvPr id="18" name="Text 15"/>
          <p:cNvSpPr txBox="1"/>
          <p:nvPr/>
        </p:nvSpPr>
        <p:spPr>
          <a:xfrm>
            <a:off x="1188720" y="5029200"/>
            <a:ext cx="2600858" cy="475488"/>
          </a:xfrm>
          <a:prstGeom prst="rect">
            <a:avLst/>
          </a:prstGeom>
          <a:noFill/>
          <a:ln/>
        </p:spPr>
        <p:txBody>
          <a:bodyPr wrap="square" lIns="0" tIns="0" rIns="0" bIns="0" rtlCol="0" anchor="ctr"/>
          <a:lstStyle/>
          <a:p>
            <a:pPr marL="0" indent="0">
              <a:buNone/>
            </a:pPr>
            <a:r>
              <a:rPr lang="en-US" sz="1400" dirty="0">
                <a:solidFill>
                  <a:schemeClr val="tx1"/>
                </a:solidFill>
              </a:rPr>
              <a:t>Roles identified and assigned</a:t>
            </a:r>
            <a:endParaRPr lang="en-US" sz="1400" dirty="0"/>
          </a:p>
        </p:txBody>
      </p:sp>
      <p:sp>
        <p:nvSpPr>
          <p:cNvPr id="19" name="Phase 2 card"/>
          <p:cNvSpPr/>
          <p:nvPr/>
        </p:nvSpPr>
        <p:spPr>
          <a:xfrm>
            <a:off x="4338218" y="1371600"/>
            <a:ext cx="3515258" cy="4160520"/>
          </a:xfrm>
          <a:prstGeom prst="roundRect">
            <a:avLst>
              <a:gd name="adj" fmla="val 2081"/>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0" name="Text 17"/>
          <p:cNvSpPr txBox="1"/>
          <p:nvPr/>
        </p:nvSpPr>
        <p:spPr>
          <a:xfrm>
            <a:off x="4658258" y="1645920"/>
            <a:ext cx="2875178"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PHASE 2</a:t>
            </a:r>
            <a:endParaRPr lang="en-US" sz="1200" dirty="0"/>
          </a:p>
        </p:txBody>
      </p:sp>
      <p:sp>
        <p:nvSpPr>
          <p:cNvPr id="21" name="Text 18"/>
          <p:cNvSpPr txBox="1"/>
          <p:nvPr/>
        </p:nvSpPr>
        <p:spPr>
          <a:xfrm>
            <a:off x="4658258" y="1920240"/>
            <a:ext cx="2875178" cy="411480"/>
          </a:xfrm>
          <a:prstGeom prst="rect">
            <a:avLst/>
          </a:prstGeom>
          <a:noFill/>
          <a:ln/>
        </p:spPr>
        <p:txBody>
          <a:bodyPr wrap="square" lIns="0" tIns="0" rIns="0" bIns="0" rtlCol="0" anchor="t"/>
          <a:lstStyle/>
          <a:p>
            <a:pPr marL="0" indent="0">
              <a:buNone/>
            </a:pPr>
            <a:r>
              <a:rPr lang="en-US" sz="1900" b="1" dirty="0">
                <a:solidFill>
                  <a:schemeClr val="tx1"/>
                </a:solidFill>
              </a:rPr>
              <a:t>Research and elicitation</a:t>
            </a:r>
            <a:endParaRPr lang="en-US" sz="1900" dirty="0"/>
          </a:p>
        </p:txBody>
      </p:sp>
      <p:sp>
        <p:nvSpPr>
          <p:cNvPr id="22" name="Phase 2 status 1"/>
          <p:cNvSpPr/>
          <p:nvPr/>
        </p:nvSpPr>
        <p:spPr>
          <a:xfrm>
            <a:off x="4658258" y="2660904"/>
            <a:ext cx="182880" cy="182880"/>
          </a:xfrm>
          <a:prstGeom prst="ellipse">
            <a:avLst/>
          </a:prstGeom>
          <a:solidFill>
            <a:schemeClr val="accent2"/>
          </a:solidFill>
          <a:ln/>
        </p:spPr>
        <p:txBody>
          <a:bodyPr/>
          <a:lstStyle/>
          <a:p>
            <a:endParaRPr lang="pt-PT"/>
          </a:p>
        </p:txBody>
      </p:sp>
      <p:sp>
        <p:nvSpPr>
          <p:cNvPr id="23" name="Text 20"/>
          <p:cNvSpPr txBox="1"/>
          <p:nvPr/>
        </p:nvSpPr>
        <p:spPr>
          <a:xfrm>
            <a:off x="4978298" y="2514600"/>
            <a:ext cx="2600858" cy="475488"/>
          </a:xfrm>
          <a:prstGeom prst="rect">
            <a:avLst/>
          </a:prstGeom>
          <a:noFill/>
          <a:ln/>
        </p:spPr>
        <p:txBody>
          <a:bodyPr wrap="square" lIns="0" tIns="0" rIns="0" bIns="0" rtlCol="0" anchor="ctr"/>
          <a:lstStyle/>
          <a:p>
            <a:pPr marL="0" indent="0">
              <a:buNone/>
            </a:pPr>
            <a:r>
              <a:rPr lang="en-US" sz="1400" dirty="0">
                <a:solidFill>
                  <a:schemeClr val="tx1"/>
                </a:solidFill>
              </a:rPr>
              <a:t>Project domain research</a:t>
            </a:r>
            <a:endParaRPr lang="en-US" sz="1400" dirty="0"/>
          </a:p>
        </p:txBody>
      </p:sp>
      <p:sp>
        <p:nvSpPr>
          <p:cNvPr id="24" name="Phase 2 status 2"/>
          <p:cNvSpPr/>
          <p:nvPr/>
        </p:nvSpPr>
        <p:spPr>
          <a:xfrm>
            <a:off x="4658258" y="3163824"/>
            <a:ext cx="182880" cy="182880"/>
          </a:xfrm>
          <a:prstGeom prst="ellipse">
            <a:avLst/>
          </a:prstGeom>
          <a:solidFill>
            <a:schemeClr val="accent2"/>
          </a:solidFill>
          <a:ln/>
        </p:spPr>
        <p:txBody>
          <a:bodyPr/>
          <a:lstStyle/>
          <a:p>
            <a:endParaRPr lang="pt-PT"/>
          </a:p>
        </p:txBody>
      </p:sp>
      <p:sp>
        <p:nvSpPr>
          <p:cNvPr id="25" name="Text 22"/>
          <p:cNvSpPr txBox="1"/>
          <p:nvPr/>
        </p:nvSpPr>
        <p:spPr>
          <a:xfrm>
            <a:off x="4978298" y="3017520"/>
            <a:ext cx="2600858" cy="475488"/>
          </a:xfrm>
          <a:prstGeom prst="rect">
            <a:avLst/>
          </a:prstGeom>
          <a:noFill/>
          <a:ln/>
        </p:spPr>
        <p:txBody>
          <a:bodyPr wrap="square" lIns="0" tIns="0" rIns="0" bIns="0" rtlCol="0" anchor="ctr"/>
          <a:lstStyle/>
          <a:p>
            <a:pPr marL="0" indent="0">
              <a:buNone/>
            </a:pPr>
            <a:r>
              <a:rPr lang="en-US" sz="1400" dirty="0">
                <a:solidFill>
                  <a:schemeClr val="tx1"/>
                </a:solidFill>
              </a:rPr>
              <a:t>Related works research</a:t>
            </a:r>
            <a:endParaRPr lang="en-US" sz="1400" dirty="0"/>
          </a:p>
        </p:txBody>
      </p:sp>
      <p:sp>
        <p:nvSpPr>
          <p:cNvPr id="26" name="Phase 2 status 3"/>
          <p:cNvSpPr/>
          <p:nvPr/>
        </p:nvSpPr>
        <p:spPr>
          <a:xfrm>
            <a:off x="4658258" y="3666744"/>
            <a:ext cx="182880" cy="182880"/>
          </a:xfrm>
          <a:prstGeom prst="ellipse">
            <a:avLst/>
          </a:prstGeom>
          <a:solidFill>
            <a:schemeClr val="accent3"/>
          </a:solidFill>
          <a:ln/>
        </p:spPr>
        <p:txBody>
          <a:bodyPr/>
          <a:lstStyle/>
          <a:p>
            <a:endParaRPr lang="pt-PT"/>
          </a:p>
        </p:txBody>
      </p:sp>
      <p:sp>
        <p:nvSpPr>
          <p:cNvPr id="27" name="Text 24"/>
          <p:cNvSpPr txBox="1"/>
          <p:nvPr/>
        </p:nvSpPr>
        <p:spPr>
          <a:xfrm>
            <a:off x="4978298" y="3520440"/>
            <a:ext cx="2600858" cy="475488"/>
          </a:xfrm>
          <a:prstGeom prst="rect">
            <a:avLst/>
          </a:prstGeom>
          <a:noFill/>
          <a:ln/>
        </p:spPr>
        <p:txBody>
          <a:bodyPr wrap="square" lIns="0" tIns="0" rIns="0" bIns="0" rtlCol="0" anchor="ctr"/>
          <a:lstStyle/>
          <a:p>
            <a:pPr marL="0" indent="0">
              <a:buNone/>
            </a:pPr>
            <a:r>
              <a:rPr lang="en-US" sz="1400" dirty="0">
                <a:solidFill>
                  <a:schemeClr val="tx1"/>
                </a:solidFill>
              </a:rPr>
              <a:t>Questions to customers</a:t>
            </a:r>
            <a:endParaRPr lang="en-US" sz="1400" dirty="0"/>
          </a:p>
        </p:txBody>
      </p:sp>
      <p:sp>
        <p:nvSpPr>
          <p:cNvPr id="28" name="Phase 2 status 4"/>
          <p:cNvSpPr/>
          <p:nvPr/>
        </p:nvSpPr>
        <p:spPr>
          <a:xfrm>
            <a:off x="4658258" y="4169664"/>
            <a:ext cx="182880" cy="182880"/>
          </a:xfrm>
          <a:prstGeom prst="ellipse">
            <a:avLst/>
          </a:prstGeom>
          <a:solidFill>
            <a:schemeClr val="accent3"/>
          </a:solidFill>
          <a:ln/>
        </p:spPr>
        <p:txBody>
          <a:bodyPr/>
          <a:lstStyle/>
          <a:p>
            <a:endParaRPr lang="pt-PT"/>
          </a:p>
        </p:txBody>
      </p:sp>
      <p:sp>
        <p:nvSpPr>
          <p:cNvPr id="29" name="Text 26"/>
          <p:cNvSpPr txBox="1"/>
          <p:nvPr/>
        </p:nvSpPr>
        <p:spPr>
          <a:xfrm>
            <a:off x="4978298" y="4023360"/>
            <a:ext cx="2600858" cy="475488"/>
          </a:xfrm>
          <a:prstGeom prst="rect">
            <a:avLst/>
          </a:prstGeom>
          <a:noFill/>
          <a:ln/>
        </p:spPr>
        <p:txBody>
          <a:bodyPr wrap="square" lIns="0" tIns="0" rIns="0" bIns="0" rtlCol="0" anchor="ctr"/>
          <a:lstStyle/>
          <a:p>
            <a:pPr marL="0" indent="0">
              <a:buNone/>
            </a:pPr>
            <a:r>
              <a:rPr lang="en-US" sz="1400" dirty="0">
                <a:solidFill>
                  <a:schemeClr val="tx1"/>
                </a:solidFill>
              </a:rPr>
              <a:t>Customer interviews</a:t>
            </a:r>
            <a:endParaRPr lang="en-US" sz="1400" dirty="0"/>
          </a:p>
        </p:txBody>
      </p:sp>
      <p:sp>
        <p:nvSpPr>
          <p:cNvPr id="30" name="Phase 2 status 5"/>
          <p:cNvSpPr/>
          <p:nvPr/>
        </p:nvSpPr>
        <p:spPr>
          <a:xfrm>
            <a:off x="4658258" y="4672584"/>
            <a:ext cx="182880" cy="182880"/>
          </a:xfrm>
          <a:prstGeom prst="ellipse">
            <a:avLst/>
          </a:prstGeom>
          <a:solidFill>
            <a:schemeClr val="accent3"/>
          </a:solidFill>
          <a:ln/>
        </p:spPr>
        <p:txBody>
          <a:bodyPr/>
          <a:lstStyle/>
          <a:p>
            <a:endParaRPr lang="pt-PT"/>
          </a:p>
        </p:txBody>
      </p:sp>
      <p:sp>
        <p:nvSpPr>
          <p:cNvPr id="31" name="Text 28"/>
          <p:cNvSpPr txBox="1"/>
          <p:nvPr/>
        </p:nvSpPr>
        <p:spPr>
          <a:xfrm>
            <a:off x="4978298" y="4526280"/>
            <a:ext cx="2600858" cy="475488"/>
          </a:xfrm>
          <a:prstGeom prst="rect">
            <a:avLst/>
          </a:prstGeom>
          <a:noFill/>
          <a:ln/>
        </p:spPr>
        <p:txBody>
          <a:bodyPr wrap="square" lIns="0" tIns="0" rIns="0" bIns="0" rtlCol="0" anchor="ctr"/>
          <a:lstStyle/>
          <a:p>
            <a:pPr marL="0" indent="0">
              <a:buNone/>
            </a:pPr>
            <a:r>
              <a:rPr lang="en-US" sz="1400" dirty="0">
                <a:solidFill>
                  <a:schemeClr val="tx1"/>
                </a:solidFill>
              </a:rPr>
              <a:t>Initial functional requirements and NFRs</a:t>
            </a:r>
            <a:endParaRPr lang="en-US" sz="1400" dirty="0"/>
          </a:p>
        </p:txBody>
      </p:sp>
      <p:sp>
        <p:nvSpPr>
          <p:cNvPr id="32" name="Phase 3 card"/>
          <p:cNvSpPr/>
          <p:nvPr/>
        </p:nvSpPr>
        <p:spPr>
          <a:xfrm>
            <a:off x="8127797" y="1371600"/>
            <a:ext cx="3515258" cy="4160520"/>
          </a:xfrm>
          <a:prstGeom prst="roundRect">
            <a:avLst>
              <a:gd name="adj" fmla="val 2081"/>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33" name="Text 30"/>
          <p:cNvSpPr txBox="1"/>
          <p:nvPr/>
        </p:nvSpPr>
        <p:spPr>
          <a:xfrm>
            <a:off x="8447837" y="1645920"/>
            <a:ext cx="2875178"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PHASE 3</a:t>
            </a:r>
            <a:endParaRPr lang="en-US" sz="1200" dirty="0"/>
          </a:p>
        </p:txBody>
      </p:sp>
      <p:sp>
        <p:nvSpPr>
          <p:cNvPr id="34" name="Text 31"/>
          <p:cNvSpPr txBox="1"/>
          <p:nvPr/>
        </p:nvSpPr>
        <p:spPr>
          <a:xfrm>
            <a:off x="8447837" y="1920240"/>
            <a:ext cx="2875178" cy="411480"/>
          </a:xfrm>
          <a:prstGeom prst="rect">
            <a:avLst/>
          </a:prstGeom>
          <a:noFill/>
          <a:ln/>
        </p:spPr>
        <p:txBody>
          <a:bodyPr wrap="square" lIns="0" tIns="0" rIns="0" bIns="0" rtlCol="0" anchor="t"/>
          <a:lstStyle/>
          <a:p>
            <a:pPr marL="0" indent="0">
              <a:buNone/>
            </a:pPr>
            <a:r>
              <a:rPr lang="en-US" sz="1900" b="1" dirty="0">
                <a:solidFill>
                  <a:schemeClr val="tx1"/>
                </a:solidFill>
              </a:rPr>
              <a:t>Scope and backlog</a:t>
            </a:r>
            <a:endParaRPr lang="en-US" sz="1900" dirty="0"/>
          </a:p>
        </p:txBody>
      </p:sp>
      <p:sp>
        <p:nvSpPr>
          <p:cNvPr id="35" name="Phase 3 status 1"/>
          <p:cNvSpPr/>
          <p:nvPr/>
        </p:nvSpPr>
        <p:spPr>
          <a:xfrm>
            <a:off x="8447837" y="2660904"/>
            <a:ext cx="182880" cy="182880"/>
          </a:xfrm>
          <a:prstGeom prst="ellipse">
            <a:avLst/>
          </a:prstGeom>
          <a:solidFill>
            <a:schemeClr val="accent3"/>
          </a:solidFill>
          <a:ln/>
        </p:spPr>
        <p:txBody>
          <a:bodyPr/>
          <a:lstStyle/>
          <a:p>
            <a:endParaRPr lang="pt-PT"/>
          </a:p>
        </p:txBody>
      </p:sp>
      <p:sp>
        <p:nvSpPr>
          <p:cNvPr id="36" name="Text 33"/>
          <p:cNvSpPr txBox="1"/>
          <p:nvPr/>
        </p:nvSpPr>
        <p:spPr>
          <a:xfrm>
            <a:off x="8767877" y="2514600"/>
            <a:ext cx="2600858" cy="475488"/>
          </a:xfrm>
          <a:prstGeom prst="rect">
            <a:avLst/>
          </a:prstGeom>
          <a:noFill/>
          <a:ln/>
        </p:spPr>
        <p:txBody>
          <a:bodyPr wrap="square" lIns="0" tIns="0" rIns="0" bIns="0" rtlCol="0" anchor="ctr"/>
          <a:lstStyle/>
          <a:p>
            <a:pPr marL="0" indent="0">
              <a:buNone/>
            </a:pPr>
            <a:r>
              <a:rPr lang="en-US" sz="1400" dirty="0">
                <a:solidFill>
                  <a:schemeClr val="tx1"/>
                </a:solidFill>
              </a:rPr>
              <a:t>Functional scope proposal</a:t>
            </a:r>
            <a:endParaRPr lang="en-US" sz="1400" dirty="0"/>
          </a:p>
        </p:txBody>
      </p:sp>
      <p:sp>
        <p:nvSpPr>
          <p:cNvPr id="37" name="Phase 3 status 2"/>
          <p:cNvSpPr/>
          <p:nvPr/>
        </p:nvSpPr>
        <p:spPr>
          <a:xfrm>
            <a:off x="8447837" y="3163824"/>
            <a:ext cx="182880" cy="182880"/>
          </a:xfrm>
          <a:prstGeom prst="ellipse">
            <a:avLst/>
          </a:prstGeom>
          <a:solidFill>
            <a:schemeClr val="accent3"/>
          </a:solidFill>
          <a:ln/>
        </p:spPr>
        <p:txBody>
          <a:bodyPr/>
          <a:lstStyle/>
          <a:p>
            <a:endParaRPr lang="pt-PT"/>
          </a:p>
        </p:txBody>
      </p:sp>
      <p:sp>
        <p:nvSpPr>
          <p:cNvPr id="38" name="Text 35"/>
          <p:cNvSpPr txBox="1"/>
          <p:nvPr/>
        </p:nvSpPr>
        <p:spPr>
          <a:xfrm>
            <a:off x="8767877" y="3017520"/>
            <a:ext cx="2600858" cy="475488"/>
          </a:xfrm>
          <a:prstGeom prst="rect">
            <a:avLst/>
          </a:prstGeom>
          <a:noFill/>
          <a:ln/>
        </p:spPr>
        <p:txBody>
          <a:bodyPr wrap="square" lIns="0" tIns="0" rIns="0" bIns="0" rtlCol="0" anchor="ctr"/>
          <a:lstStyle/>
          <a:p>
            <a:pPr marL="0" indent="0">
              <a:buNone/>
            </a:pPr>
            <a:r>
              <a:rPr lang="en-US" sz="1400" dirty="0">
                <a:solidFill>
                  <a:schemeClr val="tx1"/>
                </a:solidFill>
              </a:rPr>
              <a:t>Product Backlog</a:t>
            </a:r>
            <a:endParaRPr lang="en-US" sz="1400" dirty="0"/>
          </a:p>
        </p:txBody>
      </p:sp>
      <p:sp>
        <p:nvSpPr>
          <p:cNvPr id="39" name="Phase 3 status 3"/>
          <p:cNvSpPr/>
          <p:nvPr/>
        </p:nvSpPr>
        <p:spPr>
          <a:xfrm>
            <a:off x="8447837" y="3666744"/>
            <a:ext cx="182880" cy="182880"/>
          </a:xfrm>
          <a:prstGeom prst="ellipse">
            <a:avLst/>
          </a:prstGeom>
          <a:solidFill>
            <a:schemeClr val="accent4"/>
          </a:solidFill>
          <a:ln/>
        </p:spPr>
        <p:txBody>
          <a:bodyPr/>
          <a:lstStyle/>
          <a:p>
            <a:endParaRPr lang="pt-PT"/>
          </a:p>
        </p:txBody>
      </p:sp>
      <p:sp>
        <p:nvSpPr>
          <p:cNvPr id="40" name="Text 37"/>
          <p:cNvSpPr txBox="1"/>
          <p:nvPr/>
        </p:nvSpPr>
        <p:spPr>
          <a:xfrm>
            <a:off x="8767877" y="3520440"/>
            <a:ext cx="2600858" cy="475488"/>
          </a:xfrm>
          <a:prstGeom prst="rect">
            <a:avLst/>
          </a:prstGeom>
          <a:noFill/>
          <a:ln/>
        </p:spPr>
        <p:txBody>
          <a:bodyPr wrap="square" lIns="0" tIns="0" rIns="0" bIns="0" rtlCol="0" anchor="ctr"/>
          <a:lstStyle/>
          <a:p>
            <a:pPr marL="0" indent="0">
              <a:buNone/>
            </a:pPr>
            <a:r>
              <a:rPr lang="en-US" sz="1400" dirty="0">
                <a:solidFill>
                  <a:schemeClr val="tx1"/>
                </a:solidFill>
              </a:rPr>
              <a:t>MoSCoW prioritisation with the customer</a:t>
            </a:r>
            <a:endParaRPr lang="en-US" sz="1400" dirty="0"/>
          </a:p>
        </p:txBody>
      </p:sp>
      <p:sp>
        <p:nvSpPr>
          <p:cNvPr id="41" name="Phase 3 status 4"/>
          <p:cNvSpPr/>
          <p:nvPr/>
        </p:nvSpPr>
        <p:spPr>
          <a:xfrm>
            <a:off x="8447837" y="4169664"/>
            <a:ext cx="182880" cy="182880"/>
          </a:xfrm>
          <a:prstGeom prst="ellipse">
            <a:avLst/>
          </a:prstGeom>
          <a:solidFill>
            <a:schemeClr val="accent4"/>
          </a:solidFill>
          <a:ln/>
        </p:spPr>
        <p:txBody>
          <a:bodyPr/>
          <a:lstStyle/>
          <a:p>
            <a:endParaRPr lang="pt-PT"/>
          </a:p>
        </p:txBody>
      </p:sp>
      <p:sp>
        <p:nvSpPr>
          <p:cNvPr id="42" name="Text 39"/>
          <p:cNvSpPr txBox="1"/>
          <p:nvPr/>
        </p:nvSpPr>
        <p:spPr>
          <a:xfrm>
            <a:off x="8767877" y="4023360"/>
            <a:ext cx="2600858" cy="475488"/>
          </a:xfrm>
          <a:prstGeom prst="rect">
            <a:avLst/>
          </a:prstGeom>
          <a:noFill/>
          <a:ln/>
        </p:spPr>
        <p:txBody>
          <a:bodyPr wrap="square" lIns="0" tIns="0" rIns="0" bIns="0" rtlCol="0" anchor="ctr"/>
          <a:lstStyle/>
          <a:p>
            <a:pPr marL="0" indent="0">
              <a:buNone/>
            </a:pPr>
            <a:r>
              <a:rPr lang="en-US" sz="1400" dirty="0">
                <a:solidFill>
                  <a:schemeClr val="tx1"/>
                </a:solidFill>
              </a:rPr>
              <a:t>Sprint B backlog (meets DoR)</a:t>
            </a:r>
            <a:endParaRPr lang="en-US" sz="1400" dirty="0"/>
          </a:p>
        </p:txBody>
      </p:sp>
      <p:sp>
        <p:nvSpPr>
          <p:cNvPr id="43" name="Legend Done"/>
          <p:cNvSpPr/>
          <p:nvPr/>
        </p:nvSpPr>
        <p:spPr>
          <a:xfrm>
            <a:off x="548640" y="5824728"/>
            <a:ext cx="182880" cy="182880"/>
          </a:xfrm>
          <a:prstGeom prst="ellipse">
            <a:avLst/>
          </a:prstGeom>
          <a:solidFill>
            <a:schemeClr val="accent2"/>
          </a:solidFill>
          <a:ln/>
        </p:spPr>
        <p:txBody>
          <a:bodyPr/>
          <a:lstStyle/>
          <a:p>
            <a:endParaRPr lang="pt-PT"/>
          </a:p>
        </p:txBody>
      </p:sp>
      <p:sp>
        <p:nvSpPr>
          <p:cNvPr id="44" name="Text 41"/>
          <p:cNvSpPr txBox="1"/>
          <p:nvPr/>
        </p:nvSpPr>
        <p:spPr>
          <a:xfrm>
            <a:off x="822960" y="5760720"/>
            <a:ext cx="1371600" cy="310896"/>
          </a:xfrm>
          <a:prstGeom prst="rect">
            <a:avLst/>
          </a:prstGeom>
          <a:noFill/>
          <a:ln/>
        </p:spPr>
        <p:txBody>
          <a:bodyPr wrap="square" lIns="0" tIns="0" rIns="0" bIns="0" rtlCol="0" anchor="ctr"/>
          <a:lstStyle/>
          <a:p>
            <a:pPr marL="0" indent="0">
              <a:buNone/>
            </a:pPr>
            <a:r>
              <a:rPr lang="en-US" sz="1300" dirty="0">
                <a:solidFill>
                  <a:schemeClr val="tx2"/>
                </a:solidFill>
              </a:rPr>
              <a:t>Done</a:t>
            </a:r>
            <a:endParaRPr lang="en-US" sz="1300" dirty="0"/>
          </a:p>
        </p:txBody>
      </p:sp>
      <p:sp>
        <p:nvSpPr>
          <p:cNvPr id="45" name="Legend In progress"/>
          <p:cNvSpPr/>
          <p:nvPr/>
        </p:nvSpPr>
        <p:spPr>
          <a:xfrm>
            <a:off x="2286000" y="5824728"/>
            <a:ext cx="182880" cy="182880"/>
          </a:xfrm>
          <a:prstGeom prst="ellipse">
            <a:avLst/>
          </a:prstGeom>
          <a:solidFill>
            <a:schemeClr val="accent3"/>
          </a:solidFill>
          <a:ln/>
        </p:spPr>
        <p:txBody>
          <a:bodyPr/>
          <a:lstStyle/>
          <a:p>
            <a:endParaRPr lang="pt-PT"/>
          </a:p>
        </p:txBody>
      </p:sp>
      <p:sp>
        <p:nvSpPr>
          <p:cNvPr id="46" name="Text 43"/>
          <p:cNvSpPr txBox="1"/>
          <p:nvPr/>
        </p:nvSpPr>
        <p:spPr>
          <a:xfrm>
            <a:off x="2560320" y="5760720"/>
            <a:ext cx="1371600" cy="310896"/>
          </a:xfrm>
          <a:prstGeom prst="rect">
            <a:avLst/>
          </a:prstGeom>
          <a:noFill/>
          <a:ln/>
        </p:spPr>
        <p:txBody>
          <a:bodyPr wrap="square" lIns="0" tIns="0" rIns="0" bIns="0" rtlCol="0" anchor="ctr"/>
          <a:lstStyle/>
          <a:p>
            <a:pPr marL="0" indent="0">
              <a:buNone/>
            </a:pPr>
            <a:r>
              <a:rPr lang="en-US" sz="1300" dirty="0">
                <a:solidFill>
                  <a:schemeClr val="tx2"/>
                </a:solidFill>
              </a:rPr>
              <a:t>In progress</a:t>
            </a:r>
            <a:endParaRPr lang="en-US" sz="1300" dirty="0"/>
          </a:p>
        </p:txBody>
      </p:sp>
      <p:sp>
        <p:nvSpPr>
          <p:cNvPr id="47" name="Legend Not started"/>
          <p:cNvSpPr/>
          <p:nvPr/>
        </p:nvSpPr>
        <p:spPr>
          <a:xfrm>
            <a:off x="4023360" y="5824728"/>
            <a:ext cx="182880" cy="182880"/>
          </a:xfrm>
          <a:prstGeom prst="ellipse">
            <a:avLst/>
          </a:prstGeom>
          <a:solidFill>
            <a:schemeClr val="accent4"/>
          </a:solidFill>
          <a:ln/>
        </p:spPr>
        <p:txBody>
          <a:bodyPr/>
          <a:lstStyle/>
          <a:p>
            <a:endParaRPr lang="pt-PT"/>
          </a:p>
        </p:txBody>
      </p:sp>
      <p:sp>
        <p:nvSpPr>
          <p:cNvPr id="48" name="Text 45"/>
          <p:cNvSpPr txBox="1"/>
          <p:nvPr/>
        </p:nvSpPr>
        <p:spPr>
          <a:xfrm>
            <a:off x="4297680" y="5760720"/>
            <a:ext cx="1371600" cy="310896"/>
          </a:xfrm>
          <a:prstGeom prst="rect">
            <a:avLst/>
          </a:prstGeom>
          <a:noFill/>
          <a:ln/>
        </p:spPr>
        <p:txBody>
          <a:bodyPr wrap="square" lIns="0" tIns="0" rIns="0" bIns="0" rtlCol="0" anchor="ctr"/>
          <a:lstStyle/>
          <a:p>
            <a:pPr marL="0" indent="0">
              <a:buNone/>
            </a:pPr>
            <a:r>
              <a:rPr lang="en-US" sz="1300" dirty="0">
                <a:solidFill>
                  <a:schemeClr val="tx2"/>
                </a:solidFill>
              </a:rPr>
              <a:t>Not started</a:t>
            </a:r>
            <a:endParaRPr lang="en-US" sz="1300" dirty="0"/>
          </a:p>
        </p:txBody>
      </p:sp>
      <p:sp>
        <p:nvSpPr>
          <p:cNvPr id="3"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Artifacts for the first delivery: status</a:t>
            </a:r>
            <a:endParaRPr lang="en-US" sz="3600" dirty="0"/>
          </a:p>
        </p:txBody>
      </p:sp>
      <p:sp>
        <p:nvSpPr>
          <p:cNvPr id="4" name="Artifact DoR / DoD"/>
          <p:cNvSpPr/>
          <p:nvPr/>
        </p:nvSpPr>
        <p:spPr>
          <a:xfrm>
            <a:off x="548640" y="1417320"/>
            <a:ext cx="5410048" cy="2240280"/>
          </a:xfrm>
          <a:prstGeom prst="roundRect">
            <a:avLst>
              <a:gd name="adj" fmla="val 3265"/>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5" name="DoR / DoD status pill"/>
          <p:cNvSpPr/>
          <p:nvPr/>
        </p:nvSpPr>
        <p:spPr>
          <a:xfrm>
            <a:off x="868680" y="1737360"/>
            <a:ext cx="1188720" cy="384048"/>
          </a:xfrm>
          <a:prstGeom prst="roundRect">
            <a:avLst>
              <a:gd name="adj" fmla="val 50000"/>
            </a:avLst>
          </a:prstGeom>
          <a:solidFill>
            <a:schemeClr val="accent2"/>
          </a:solidFill>
          <a:ln/>
        </p:spPr>
        <p:txBody>
          <a:bodyPr/>
          <a:lstStyle/>
          <a:p>
            <a:endParaRPr lang="pt-PT"/>
          </a:p>
        </p:txBody>
      </p:sp>
      <p:sp>
        <p:nvSpPr>
          <p:cNvPr id="6" name="Text 3"/>
          <p:cNvSpPr txBox="1"/>
          <p:nvPr/>
        </p:nvSpPr>
        <p:spPr>
          <a:xfrm>
            <a:off x="868680" y="1737360"/>
            <a:ext cx="1188720" cy="384048"/>
          </a:xfrm>
          <a:prstGeom prst="rect">
            <a:avLst/>
          </a:prstGeom>
          <a:noFill/>
          <a:ln/>
        </p:spPr>
        <p:txBody>
          <a:bodyPr wrap="square" lIns="0" tIns="0" rIns="0" bIns="0" rtlCol="0" anchor="ctr"/>
          <a:lstStyle/>
          <a:p>
            <a:pPr marL="0" indent="0" algn="ctr">
              <a:buNone/>
            </a:pPr>
            <a:r>
              <a:rPr lang="en-US" sz="1200" b="1" kern="0" spc="100" dirty="0">
                <a:solidFill>
                  <a:schemeClr val="bg1"/>
                </a:solidFill>
              </a:rPr>
              <a:t>GREEN</a:t>
            </a:r>
            <a:endParaRPr lang="en-US" sz="1200" dirty="0"/>
          </a:p>
        </p:txBody>
      </p:sp>
      <p:sp>
        <p:nvSpPr>
          <p:cNvPr id="7" name="Text 4"/>
          <p:cNvSpPr txBox="1"/>
          <p:nvPr/>
        </p:nvSpPr>
        <p:spPr>
          <a:xfrm>
            <a:off x="868680" y="2286000"/>
            <a:ext cx="4769968" cy="457200"/>
          </a:xfrm>
          <a:prstGeom prst="rect">
            <a:avLst/>
          </a:prstGeom>
          <a:noFill/>
          <a:ln/>
        </p:spPr>
        <p:txBody>
          <a:bodyPr wrap="square" lIns="0" tIns="0" rIns="0" bIns="0" rtlCol="0" anchor="t"/>
          <a:lstStyle/>
          <a:p>
            <a:pPr marL="0" indent="0">
              <a:buNone/>
            </a:pPr>
            <a:r>
              <a:rPr lang="en-US" sz="2000" b="1" dirty="0">
                <a:solidFill>
                  <a:schemeClr val="tx1"/>
                </a:solidFill>
              </a:rPr>
              <a:t>DoR / DoD</a:t>
            </a:r>
            <a:endParaRPr lang="en-US" sz="2000" dirty="0"/>
          </a:p>
        </p:txBody>
      </p:sp>
      <p:sp>
        <p:nvSpPr>
          <p:cNvPr id="8" name="Text 5"/>
          <p:cNvSpPr txBox="1"/>
          <p:nvPr/>
        </p:nvSpPr>
        <p:spPr>
          <a:xfrm>
            <a:off x="868680" y="2788920"/>
            <a:ext cx="4769968" cy="685800"/>
          </a:xfrm>
          <a:prstGeom prst="rect">
            <a:avLst/>
          </a:prstGeom>
          <a:noFill/>
          <a:ln/>
        </p:spPr>
        <p:txBody>
          <a:bodyPr wrap="square" lIns="0" tIns="0" rIns="0" bIns="0" rtlCol="0" anchor="t"/>
          <a:lstStyle/>
          <a:p>
            <a:pPr marL="0" indent="0">
              <a:buNone/>
            </a:pPr>
            <a:r>
              <a:rPr lang="en-US" sz="1500" dirty="0">
                <a:solidFill>
                  <a:schemeClr val="tx2"/>
                </a:solidFill>
              </a:rPr>
              <a:t>Definition of Ready and Definition of Done agreed and documented in Confluence</a:t>
            </a:r>
            <a:endParaRPr lang="en-US" sz="1500" dirty="0"/>
          </a:p>
        </p:txBody>
      </p:sp>
      <p:sp>
        <p:nvSpPr>
          <p:cNvPr id="9" name="Artifact Team roles and work process"/>
          <p:cNvSpPr/>
          <p:nvPr/>
        </p:nvSpPr>
        <p:spPr>
          <a:xfrm>
            <a:off x="6233008" y="1417320"/>
            <a:ext cx="5410048" cy="2240280"/>
          </a:xfrm>
          <a:prstGeom prst="roundRect">
            <a:avLst>
              <a:gd name="adj" fmla="val 3265"/>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0" name="Team roles and work process status pill"/>
          <p:cNvSpPr/>
          <p:nvPr/>
        </p:nvSpPr>
        <p:spPr>
          <a:xfrm>
            <a:off x="6553048" y="1737360"/>
            <a:ext cx="1188720" cy="384048"/>
          </a:xfrm>
          <a:prstGeom prst="roundRect">
            <a:avLst>
              <a:gd name="adj" fmla="val 50000"/>
            </a:avLst>
          </a:prstGeom>
          <a:solidFill>
            <a:schemeClr val="accent2"/>
          </a:solidFill>
          <a:ln/>
        </p:spPr>
        <p:txBody>
          <a:bodyPr/>
          <a:lstStyle/>
          <a:p>
            <a:endParaRPr lang="pt-PT"/>
          </a:p>
        </p:txBody>
      </p:sp>
      <p:sp>
        <p:nvSpPr>
          <p:cNvPr id="11" name="Text 8"/>
          <p:cNvSpPr txBox="1"/>
          <p:nvPr/>
        </p:nvSpPr>
        <p:spPr>
          <a:xfrm>
            <a:off x="6553048" y="1737360"/>
            <a:ext cx="1188720" cy="384048"/>
          </a:xfrm>
          <a:prstGeom prst="rect">
            <a:avLst/>
          </a:prstGeom>
          <a:noFill/>
          <a:ln/>
        </p:spPr>
        <p:txBody>
          <a:bodyPr wrap="square" lIns="0" tIns="0" rIns="0" bIns="0" rtlCol="0" anchor="ctr"/>
          <a:lstStyle/>
          <a:p>
            <a:pPr marL="0" indent="0" algn="ctr">
              <a:buNone/>
            </a:pPr>
            <a:r>
              <a:rPr lang="en-US" sz="1200" b="1" kern="0" spc="100" dirty="0">
                <a:solidFill>
                  <a:schemeClr val="bg1"/>
                </a:solidFill>
              </a:rPr>
              <a:t>GREEN</a:t>
            </a:r>
            <a:endParaRPr lang="en-US" sz="1200" dirty="0"/>
          </a:p>
        </p:txBody>
      </p:sp>
      <p:sp>
        <p:nvSpPr>
          <p:cNvPr id="12" name="Text 9"/>
          <p:cNvSpPr txBox="1"/>
          <p:nvPr/>
        </p:nvSpPr>
        <p:spPr>
          <a:xfrm>
            <a:off x="6553048" y="2286000"/>
            <a:ext cx="4769968" cy="457200"/>
          </a:xfrm>
          <a:prstGeom prst="rect">
            <a:avLst/>
          </a:prstGeom>
          <a:noFill/>
          <a:ln/>
        </p:spPr>
        <p:txBody>
          <a:bodyPr wrap="square" lIns="0" tIns="0" rIns="0" bIns="0" rtlCol="0" anchor="t"/>
          <a:lstStyle/>
          <a:p>
            <a:pPr marL="0" indent="0">
              <a:buNone/>
            </a:pPr>
            <a:r>
              <a:rPr lang="en-US" sz="2000" b="1" dirty="0">
                <a:solidFill>
                  <a:schemeClr val="tx1"/>
                </a:solidFill>
              </a:rPr>
              <a:t>Team roles and work process</a:t>
            </a:r>
            <a:endParaRPr lang="en-US" sz="2000" dirty="0"/>
          </a:p>
        </p:txBody>
      </p:sp>
      <p:sp>
        <p:nvSpPr>
          <p:cNvPr id="13" name="Text 10"/>
          <p:cNvSpPr txBox="1"/>
          <p:nvPr/>
        </p:nvSpPr>
        <p:spPr>
          <a:xfrm>
            <a:off x="6553048" y="2788920"/>
            <a:ext cx="4769968" cy="685800"/>
          </a:xfrm>
          <a:prstGeom prst="rect">
            <a:avLst/>
          </a:prstGeom>
          <a:noFill/>
          <a:ln/>
        </p:spPr>
        <p:txBody>
          <a:bodyPr wrap="square" lIns="0" tIns="0" rIns="0" bIns="0" rtlCol="0" anchor="t"/>
          <a:lstStyle/>
          <a:p>
            <a:pPr marL="0" indent="0">
              <a:buNone/>
            </a:pPr>
            <a:r>
              <a:rPr lang="en-US" sz="1500" dirty="0">
                <a:solidFill>
                  <a:schemeClr val="tx2"/>
                </a:solidFill>
              </a:rPr>
              <a:t>Product Owner, Scrum Master and Developers assigned; Scrum process with working agreements defined</a:t>
            </a:r>
            <a:endParaRPr lang="en-US" sz="1500" dirty="0"/>
          </a:p>
        </p:txBody>
      </p:sp>
      <p:sp>
        <p:nvSpPr>
          <p:cNvPr id="14" name="Artifact High-level system architecture"/>
          <p:cNvSpPr/>
          <p:nvPr/>
        </p:nvSpPr>
        <p:spPr>
          <a:xfrm>
            <a:off x="548640" y="3931920"/>
            <a:ext cx="5410048" cy="2240280"/>
          </a:xfrm>
          <a:prstGeom prst="roundRect">
            <a:avLst>
              <a:gd name="adj" fmla="val 3265"/>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15" name="High-level system architecture status pill"/>
          <p:cNvSpPr/>
          <p:nvPr/>
        </p:nvSpPr>
        <p:spPr>
          <a:xfrm>
            <a:off x="868680" y="4251960"/>
            <a:ext cx="1188720" cy="384048"/>
          </a:xfrm>
          <a:prstGeom prst="roundRect">
            <a:avLst>
              <a:gd name="adj" fmla="val 50000"/>
            </a:avLst>
          </a:prstGeom>
          <a:solidFill>
            <a:schemeClr val="accent2"/>
          </a:solidFill>
          <a:ln/>
        </p:spPr>
        <p:txBody>
          <a:bodyPr/>
          <a:lstStyle/>
          <a:p>
            <a:endParaRPr lang="pt-PT"/>
          </a:p>
        </p:txBody>
      </p:sp>
      <p:sp>
        <p:nvSpPr>
          <p:cNvPr id="16" name="Text 13"/>
          <p:cNvSpPr txBox="1"/>
          <p:nvPr/>
        </p:nvSpPr>
        <p:spPr>
          <a:xfrm>
            <a:off x="868680" y="4251960"/>
            <a:ext cx="1188720" cy="384048"/>
          </a:xfrm>
          <a:prstGeom prst="rect">
            <a:avLst/>
          </a:prstGeom>
          <a:noFill/>
          <a:ln/>
        </p:spPr>
        <p:txBody>
          <a:bodyPr wrap="square" lIns="0" tIns="0" rIns="0" bIns="0" rtlCol="0" anchor="ctr"/>
          <a:lstStyle/>
          <a:p>
            <a:pPr marL="0" indent="0" algn="ctr">
              <a:buNone/>
            </a:pPr>
            <a:r>
              <a:rPr lang="en-US" sz="1200" b="1" kern="0" spc="100" dirty="0">
                <a:solidFill>
                  <a:schemeClr val="bg1"/>
                </a:solidFill>
              </a:rPr>
              <a:t>GREEN</a:t>
            </a:r>
            <a:endParaRPr lang="en-US" sz="1200" dirty="0"/>
          </a:p>
        </p:txBody>
      </p:sp>
      <p:sp>
        <p:nvSpPr>
          <p:cNvPr id="17" name="Text 14"/>
          <p:cNvSpPr txBox="1"/>
          <p:nvPr/>
        </p:nvSpPr>
        <p:spPr>
          <a:xfrm>
            <a:off x="868680" y="4800600"/>
            <a:ext cx="4769968" cy="457200"/>
          </a:xfrm>
          <a:prstGeom prst="rect">
            <a:avLst/>
          </a:prstGeom>
          <a:noFill/>
          <a:ln/>
        </p:spPr>
        <p:txBody>
          <a:bodyPr wrap="square" lIns="0" tIns="0" rIns="0" bIns="0" rtlCol="0" anchor="t"/>
          <a:lstStyle/>
          <a:p>
            <a:pPr marL="0" indent="0">
              <a:buNone/>
            </a:pPr>
            <a:r>
              <a:rPr lang="en-US" sz="2000" b="1" dirty="0">
                <a:solidFill>
                  <a:schemeClr val="tx1"/>
                </a:solidFill>
              </a:rPr>
              <a:t>High-level system architecture</a:t>
            </a:r>
            <a:endParaRPr lang="en-US" sz="2000" dirty="0"/>
          </a:p>
        </p:txBody>
      </p:sp>
      <p:sp>
        <p:nvSpPr>
          <p:cNvPr id="18" name="Text 15"/>
          <p:cNvSpPr txBox="1"/>
          <p:nvPr/>
        </p:nvSpPr>
        <p:spPr>
          <a:xfrm>
            <a:off x="868680" y="5303520"/>
            <a:ext cx="4769968" cy="685800"/>
          </a:xfrm>
          <a:prstGeom prst="rect">
            <a:avLst/>
          </a:prstGeom>
          <a:noFill/>
          <a:ln/>
        </p:spPr>
        <p:txBody>
          <a:bodyPr wrap="square" lIns="0" tIns="0" rIns="0" bIns="0" rtlCol="0" anchor="t"/>
          <a:lstStyle/>
          <a:p>
            <a:pPr marL="0" indent="0">
              <a:buNone/>
            </a:pPr>
            <a:r>
              <a:rPr lang="en-US" sz="1500" dirty="0">
                <a:solidFill>
                  <a:schemeClr val="tx2"/>
                </a:solidFill>
              </a:rPr>
              <a:t>Done and available in the docs folder of the GitHub repository</a:t>
            </a:r>
            <a:endParaRPr lang="en-US" sz="1500" dirty="0"/>
          </a:p>
        </p:txBody>
      </p:sp>
      <p:sp>
        <p:nvSpPr>
          <p:cNvPr id="19" name="Artifact Domain model"/>
          <p:cNvSpPr/>
          <p:nvPr/>
        </p:nvSpPr>
        <p:spPr>
          <a:xfrm>
            <a:off x="6233008" y="3931920"/>
            <a:ext cx="5410048" cy="2240280"/>
          </a:xfrm>
          <a:prstGeom prst="roundRect">
            <a:avLst>
              <a:gd name="adj" fmla="val 3265"/>
            </a:avLst>
          </a:prstGeom>
          <a:solidFill>
            <a:schemeClr val="bg1"/>
          </a:solidFill>
          <a:ln/>
          <a:effectLst>
            <a:outerShdw blurRad="127000" dist="25400" dir="5400000" algn="bl" rotWithShape="0">
              <a:srgbClr val="1E2533">
                <a:alpha val="10000"/>
              </a:srgbClr>
            </a:outerShdw>
          </a:effectLst>
        </p:spPr>
        <p:txBody>
          <a:bodyPr/>
          <a:lstStyle/>
          <a:p>
            <a:endParaRPr lang="pt-PT"/>
          </a:p>
        </p:txBody>
      </p:sp>
      <p:sp>
        <p:nvSpPr>
          <p:cNvPr id="20" name="Domain model status pill"/>
          <p:cNvSpPr/>
          <p:nvPr/>
        </p:nvSpPr>
        <p:spPr>
          <a:xfrm>
            <a:off x="6553048" y="4251960"/>
            <a:ext cx="1188720" cy="384048"/>
          </a:xfrm>
          <a:prstGeom prst="roundRect">
            <a:avLst>
              <a:gd name="adj" fmla="val 50000"/>
            </a:avLst>
          </a:prstGeom>
          <a:solidFill>
            <a:schemeClr val="accent3"/>
          </a:solidFill>
          <a:ln/>
        </p:spPr>
        <p:txBody>
          <a:bodyPr/>
          <a:lstStyle/>
          <a:p>
            <a:endParaRPr lang="pt-PT"/>
          </a:p>
        </p:txBody>
      </p:sp>
      <p:sp>
        <p:nvSpPr>
          <p:cNvPr id="21" name="Text 18"/>
          <p:cNvSpPr txBox="1"/>
          <p:nvPr/>
        </p:nvSpPr>
        <p:spPr>
          <a:xfrm>
            <a:off x="6553048" y="4251960"/>
            <a:ext cx="1188720" cy="384048"/>
          </a:xfrm>
          <a:prstGeom prst="rect">
            <a:avLst/>
          </a:prstGeom>
          <a:noFill/>
          <a:ln/>
        </p:spPr>
        <p:txBody>
          <a:bodyPr wrap="square" lIns="0" tIns="0" rIns="0" bIns="0" rtlCol="0" anchor="ctr"/>
          <a:lstStyle/>
          <a:p>
            <a:pPr marL="0" indent="0" algn="ctr">
              <a:buNone/>
            </a:pPr>
            <a:r>
              <a:rPr lang="en-US" sz="1200" b="1" kern="0" spc="100" dirty="0">
                <a:solidFill>
                  <a:schemeClr val="tx1"/>
                </a:solidFill>
              </a:rPr>
              <a:t>YELLOW</a:t>
            </a:r>
            <a:endParaRPr lang="en-US" sz="1200" dirty="0"/>
          </a:p>
        </p:txBody>
      </p:sp>
      <p:sp>
        <p:nvSpPr>
          <p:cNvPr id="22" name="Text 19"/>
          <p:cNvSpPr txBox="1"/>
          <p:nvPr/>
        </p:nvSpPr>
        <p:spPr>
          <a:xfrm>
            <a:off x="6553048" y="4800600"/>
            <a:ext cx="4769968" cy="457200"/>
          </a:xfrm>
          <a:prstGeom prst="rect">
            <a:avLst/>
          </a:prstGeom>
          <a:noFill/>
          <a:ln/>
        </p:spPr>
        <p:txBody>
          <a:bodyPr wrap="square" lIns="0" tIns="0" rIns="0" bIns="0" rtlCol="0" anchor="t"/>
          <a:lstStyle/>
          <a:p>
            <a:pPr marL="0" indent="0">
              <a:buNone/>
            </a:pPr>
            <a:r>
              <a:rPr lang="en-US" sz="2000" b="1" dirty="0">
                <a:solidFill>
                  <a:schemeClr val="tx1"/>
                </a:solidFill>
              </a:rPr>
              <a:t>Domain model</a:t>
            </a:r>
            <a:endParaRPr lang="en-US" sz="2000" dirty="0"/>
          </a:p>
        </p:txBody>
      </p:sp>
      <p:sp>
        <p:nvSpPr>
          <p:cNvPr id="23" name="Text 20"/>
          <p:cNvSpPr txBox="1"/>
          <p:nvPr/>
        </p:nvSpPr>
        <p:spPr>
          <a:xfrm>
            <a:off x="6553048" y="5303520"/>
            <a:ext cx="4769968" cy="685800"/>
          </a:xfrm>
          <a:prstGeom prst="rect">
            <a:avLst/>
          </a:prstGeom>
          <a:noFill/>
          <a:ln/>
        </p:spPr>
        <p:txBody>
          <a:bodyPr wrap="square" lIns="0" tIns="0" rIns="0" bIns="0" rtlCol="0" anchor="t"/>
          <a:lstStyle/>
          <a:p>
            <a:pPr marL="0" indent="0">
              <a:buNone/>
            </a:pPr>
            <a:r>
              <a:rPr lang="en-US" sz="1500" dirty="0">
                <a:solidFill>
                  <a:schemeClr val="tx2"/>
                </a:solidFill>
              </a:rPr>
              <a:t>Draft done and in the docs folder of the GitHub repository; still needs a thorough review by the team</a:t>
            </a:r>
            <a:endParaRPr lang="en-US" sz="1500" dirty="0"/>
          </a:p>
        </p:txBody>
      </p:sp>
      <p:sp>
        <p:nvSpPr>
          <p:cNvPr id="25" name="Slide Number Placeholder 0"/>
          <p:cNvSpPr>
            <a:spLocks noGrp="1"/>
          </p:cNvSpPr>
          <p:nvPr>
            <p:ph type="sldNum" sz="quarter" idx="4294967295"/>
          </p:nvPr>
        </p:nvSpPr>
        <p:spPr>
          <a:xfrm>
            <a:off x="11091672" y="6336792"/>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188720"/>
          </a:xfrm>
          <a:prstGeom prst="rect">
            <a:avLst/>
          </a:prstGeom>
          <a:noFill/>
          <a:ln/>
        </p:spPr>
        <p:txBody>
          <a:bodyPr wrap="square" lIns="0" tIns="0" rIns="0" bIns="0" rtlCol="0" anchor="b"/>
          <a:lstStyle/>
          <a:p>
            <a:pPr marL="0" indent="0" algn="l">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3" name="Text 0"/>
          <p:cNvSpPr>
            <a:spLocks noGrp="1"/>
          </p:cNvSpPr>
          <p:nvPr>
            <p:ph type="body" idx="101" hasCustomPrompt="1"/>
          </p:nvPr>
        </p:nvSpPr>
        <p:spPr>
          <a:xfrm>
            <a:off x="731520" y="3383280"/>
            <a:ext cx="10698480" cy="731520"/>
          </a:xfrm>
          <a:prstGeom prst="rect">
            <a:avLst/>
          </a:prstGeom>
          <a:noFill/>
          <a:ln/>
        </p:spPr>
        <p:txBody>
          <a:bodyPr wrap="square" lIns="0" tIns="0" rIns="0" bIns="0" rtlCol="0" anchor="t"/>
          <a:lstStyle/>
          <a:p>
            <a:pPr marL="0" indent="0">
              <a:buNone/>
            </a:pPr>
            <a:r>
              <a:rPr lang="en-US" sz="2400" dirty="0">
                <a:solidFill>
                  <a:schemeClr val="accent6"/>
                </a:solidFill>
              </a:rPr>
              <a:t>Questions?</a:t>
            </a:r>
            <a:endParaRPr lang="en-US" sz="2400" dirty="0"/>
          </a:p>
        </p:txBody>
      </p:sp>
      <p:sp>
        <p:nvSpPr>
          <p:cNvPr id="4" name="Closing fire circle"/>
          <p:cNvSpPr/>
          <p:nvPr/>
        </p:nvSpPr>
        <p:spPr>
          <a:xfrm>
            <a:off x="731520" y="1097280"/>
            <a:ext cx="731520" cy="731520"/>
          </a:xfrm>
          <a:prstGeom prst="ellipse">
            <a:avLst/>
          </a:prstGeom>
          <a:solidFill>
            <a:schemeClr val="accent1"/>
          </a:solidFill>
          <a:ln/>
        </p:spPr>
        <p:txBody>
          <a:bodyPr/>
          <a:lstStyle/>
          <a:p>
            <a:endParaRPr lang="pt-PT"/>
          </a:p>
        </p:txBody>
      </p:sp>
      <p:pic>
        <p:nvPicPr>
          <p:cNvPr id="5" name="Closing fire icon" descr="preencoded.png"/>
          <p:cNvPicPr>
            <a:picLocks noChangeAspect="1"/>
          </p:cNvPicPr>
          <p:nvPr/>
        </p:nvPicPr>
        <p:blipFill>
          <a:blip r:embed="rId3"/>
          <a:stretch>
            <a:fillRect/>
          </a:stretch>
        </p:blipFill>
        <p:spPr>
          <a:xfrm>
            <a:off x="914400" y="1280160"/>
            <a:ext cx="365760" cy="365760"/>
          </a:xfrm>
          <a:prstGeom prst="rect">
            <a:avLst/>
          </a:prstGeom>
        </p:spPr>
      </p:pic>
      <p:sp>
        <p:nvSpPr>
          <p:cNvPr id="6" name="Text 3"/>
          <p:cNvSpPr txBox="1"/>
          <p:nvPr/>
        </p:nvSpPr>
        <p:spPr>
          <a:xfrm>
            <a:off x="731520" y="5120640"/>
            <a:ext cx="10698480" cy="365760"/>
          </a:xfrm>
          <a:prstGeom prst="rect">
            <a:avLst/>
          </a:prstGeom>
          <a:noFill/>
          <a:ln/>
        </p:spPr>
        <p:txBody>
          <a:bodyPr wrap="square" lIns="0" tIns="0" rIns="0" bIns="0" rtlCol="0" anchor="t"/>
          <a:lstStyle/>
          <a:p>
            <a:pPr marL="0" indent="0">
              <a:buNone/>
            </a:pPr>
            <a:r>
              <a:rPr lang="en-US" sz="1600" dirty="0">
                <a:solidFill>
                  <a:schemeClr val="bg1"/>
                </a:solidFill>
              </a:rPr>
              <a:t>Diogo Pereira  ·  Diogo Sousa  ·  Pedro Costa  ·  Diogo Costa</a:t>
            </a:r>
            <a:endParaRPr lang="en-US" sz="1600" dirty="0"/>
          </a:p>
        </p:txBody>
      </p:sp>
      <p:sp>
        <p:nvSpPr>
          <p:cNvPr id="7" name="Text 4"/>
          <p:cNvSpPr txBox="1"/>
          <p:nvPr/>
        </p:nvSpPr>
        <p:spPr>
          <a:xfrm>
            <a:off x="731520" y="5486400"/>
            <a:ext cx="10698480" cy="320040"/>
          </a:xfrm>
          <a:prstGeom prst="rect">
            <a:avLst/>
          </a:prstGeom>
          <a:noFill/>
          <a:ln/>
        </p:spPr>
        <p:txBody>
          <a:bodyPr wrap="square" lIns="0" tIns="0" rIns="0" bIns="0" rtlCol="0" anchor="t"/>
          <a:lstStyle/>
          <a:p>
            <a:pPr marL="0" indent="0">
              <a:buNone/>
            </a:pPr>
            <a:r>
              <a:rPr lang="en-US" sz="1400" dirty="0">
                <a:solidFill>
                  <a:schemeClr val="accent5"/>
                </a:solidFill>
              </a:rPr>
              <a:t>LABDSOF 2026/27  ·  ISEP</a:t>
            </a:r>
            <a:endParaRPr lang="en-US" sz="1400" dirty="0"/>
          </a:p>
        </p:txBody>
      </p:sp>
    </p:spTree>
  </p:cSld>
  <p:clrMapOvr>
    <a:masterClrMapping/>
  </p:clrMapOvr>
</p:sld>
</file>

<file path=ppt/theme/theme1.xml><?xml version="1.0" encoding="utf-8"?>
<a:theme xmlns:a="http://schemas.openxmlformats.org/drawingml/2006/main" name="Escala">
  <a:themeElements>
    <a:clrScheme name="Escala">
      <a:dk1>
        <a:srgbClr val="1E2533"/>
      </a:dk1>
      <a:lt1>
        <a:srgbClr val="FFFFFF"/>
      </a:lt1>
      <a:dk2>
        <a:srgbClr val="5B6B82"/>
      </a:dk2>
      <a:lt2>
        <a:srgbClr val="F4F6F9"/>
      </a:lt2>
      <a:accent1>
        <a:srgbClr val="C4532D"/>
      </a:accent1>
      <a:accent2>
        <a:srgbClr val="2E9E55"/>
      </a:accent2>
      <a:accent3>
        <a:srgbClr val="E3A812"/>
      </a:accent3>
      <a:accent4>
        <a:srgbClr val="D2423B"/>
      </a:accent4>
      <a:accent5>
        <a:srgbClr val="D5DAE1"/>
      </a:accent5>
      <a:accent6>
        <a:srgbClr val="F2A27E"/>
      </a:accent6>
      <a:hlink>
        <a:srgbClr val="C4532D"/>
      </a:hlink>
      <a:folHlink>
        <a:srgbClr val="5B6B82"/>
      </a:folHlink>
    </a:clrScheme>
    <a:fontScheme name="Escal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1309</Words>
  <Application>Microsoft Office PowerPoint</Application>
  <PresentationFormat>Ecrã Panorâmico</PresentationFormat>
  <Paragraphs>179</Paragraphs>
  <Slides>9</Slides>
  <Notes>9</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9</vt:i4>
      </vt:variant>
    </vt:vector>
  </HeadingPairs>
  <TitlesOfParts>
    <vt:vector size="13" baseType="lpstr">
      <vt:lpstr>Arial</vt:lpstr>
      <vt:lpstr>Calibri</vt:lpstr>
      <vt:lpstr>Cambria</vt:lpstr>
      <vt:lpstr>Escala</vt:lpstr>
      <vt:lpstr>Escala</vt:lpstr>
      <vt:lpstr>The problems Escala must address</vt:lpstr>
      <vt:lpstr>Product Vision Board</vt:lpstr>
      <vt:lpstr>Personas at a glance</vt:lpstr>
      <vt:lpstr>Three things Escala cannot get wrong</vt:lpstr>
      <vt:lpstr>Five principal user journeys</vt:lpstr>
      <vt:lpstr>Sprint A deliverables: current status</vt:lpstr>
      <vt:lpstr>Artifacts for the first delivery: status</vt:lpstr>
      <vt:lpstr>Thank you</vt:lpstr>
    </vt:vector>
  </TitlesOfParts>
  <Company>ISEP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Escala - Sprint 1 Idea Presentation and Progress Status</dc:title>
  <dc:subject>LABDSOF 2026/27</dc:subject>
  <dc:creator>Diogo Pereira, Diogo Sousa, Pedro Costa, Diogo Costa</dc:creator>
  <cp:lastModifiedBy>Diogo Sousa</cp:lastModifiedBy>
  <cp:revision>2</cp:revision>
  <dcterms:created xsi:type="dcterms:W3CDTF">2026-10-12T17:32:13Z</dcterms:created>
  <dcterms:modified xsi:type="dcterms:W3CDTF">2026-10-12T18:00:20Z</dcterms:modified>
</cp:coreProperties>
</file>